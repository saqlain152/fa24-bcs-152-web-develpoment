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 plan: AIC 354, Lecture 2. Reading indicated as Mitchell Ch. 2; complementary standard ML taxonomy used for batch/online and instance/model-based distinctions.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Instructor-created outcomes aligned with AIC 354 Lecture 2. Suggested total teaching time: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of the course-plan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2, Sections 2.1–2.2.2: learning general concepts from specific examples and the inductive learning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Teaching example illustrating deductive inference; terminology required by AIC 354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connecting concept learning to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batch/offline learning taxonomy required by course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online/incremental learning taxonomy required by AIC 354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decision guide for course-plan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8 is the book’s dedicated instance-based learning chapter; Lecture 2 introduces the distinction conceptually.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model-based learning taxonomy required by course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8 (instance-based learning); model-based examples are standard introductory ML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combinations showing that the three taxonomies are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2, Sections 2.7–2.8 discuss inductive bias and why learning requires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Course-plan comparison supported by Mitchell Ch. 2's treatment of inductive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based on Mitchell, Ch. 2, EnjoySport.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online-learning concept included to explain when incremental learning is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online update. No specific optimization algorithm is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distinction between stochastic and mini-batch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8 discusses lazy learning and locally weighted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Three-minute classroom classification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comparison of batch learning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comparison of online learning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strategies for nonstationary online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8, nearest-neighbour learning and distance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Mitchell, Ch. 8, local approximation contrasted with global model 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synthesis of lazy and eager learning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decision framework integrating Lecture 2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Instructor-created mixed-mode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Formative assessment prompt aligned with Lecture 2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9ED970-B678-4D77-BB19-EF7C1F8307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E8FAD3-18D7-47F3-97BF-B4EE7F7216B7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B261B-2E0C-40B6-A5F1-DE5221821450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72390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Ways a Machine Can Learn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2F2F1-CA07-4E88-9383-8B9540E0DC47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65722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C8D8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8D8E8"/>
                </a:solidFill>
                <a:latin typeface="DejaVu Sans"/>
                <a:ea typeface="DejaVu Sans"/>
                <a:cs typeface="DejaVu Sans"/>
              </a:rPr>
              <a:t>Induction vs deduction • batch vs online • instance vs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1C796-FD0C-4B54-8721-953A169C0D37}"/>
              </a:ext>
            </a:extLst>
          </p:cNvPr>
          <p:cNvSpPr>
            <a:spLocks noGrp="1"/>
          </p:cNvSpPr>
          <p:nvPr/>
        </p:nvSpPr>
        <p:spPr>
          <a:xfrm>
            <a:off x="914400" y="4391025"/>
            <a:ext cx="1543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544"/>
          </a:bodyPr>
          <a:lstStyle/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45-MINUTE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948659-873B-4245-8E9D-1EFD95E1F92C}"/>
              </a:ext>
            </a:extLst>
          </p:cNvPr>
          <p:cNvSpPr>
            <a:spLocks noGrp="1"/>
          </p:cNvSpPr>
          <p:nvPr/>
        </p:nvSpPr>
        <p:spPr>
          <a:xfrm>
            <a:off x="8429625" y="809625"/>
            <a:ext cx="2724150" cy="4524375"/>
          </a:xfrm>
          <a:prstGeom prst="roundRect">
            <a:avLst>
              <a:gd name="adj" fmla="val 2797"/>
            </a:avLst>
          </a:prstGeom>
          <a:solidFill>
            <a:srgbClr val="173F5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BB7021-362B-4BD4-95A3-C52188A72845}"/>
              </a:ext>
            </a:extLst>
          </p:cNvPr>
          <p:cNvSpPr>
            <a:spLocks noGrp="1"/>
          </p:cNvSpPr>
          <p:nvPr/>
        </p:nvSpPr>
        <p:spPr>
          <a:xfrm>
            <a:off x="9124950" y="1495425"/>
            <a:ext cx="1333500" cy="133350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A05C953-78CE-4901-9413-BA2C66BDC230}"/>
              </a:ext>
            </a:extLst>
          </p:cNvPr>
          <p:cNvSpPr>
            <a:spLocks noGrp="1"/>
          </p:cNvSpPr>
          <p:nvPr/>
        </p:nvSpPr>
        <p:spPr>
          <a:xfrm>
            <a:off x="9791700" y="3000375"/>
            <a:ext cx="9525" cy="1828800"/>
          </a:xfrm>
          <a:prstGeom prst="line">
            <a:avLst/>
          </a:prstGeom>
          <a:noFill/>
          <a:ln w="57150">
            <a:solidFill>
              <a:srgbClr val="5CC8C8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3555A5-597B-4500-B57A-6320E349F5FD}"/>
              </a:ext>
            </a:extLst>
          </p:cNvPr>
          <p:cNvSpPr>
            <a:spLocks noGrp="1"/>
          </p:cNvSpPr>
          <p:nvPr/>
        </p:nvSpPr>
        <p:spPr>
          <a:xfrm>
            <a:off x="9277350" y="3190875"/>
            <a:ext cx="1028700" cy="102870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1E935-2F82-483B-A11B-2EF99D07D2C5}"/>
              </a:ext>
            </a:extLst>
          </p:cNvPr>
          <p:cNvSpPr>
            <a:spLocks noGrp="1"/>
          </p:cNvSpPr>
          <p:nvPr/>
        </p:nvSpPr>
        <p:spPr>
          <a:xfrm>
            <a:off x="8696325" y="5067300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MACHINE</a:t>
            </a:r>
          </a:p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4E27F-D917-42C8-85AC-423D443868C6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571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AFC5D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FC5D8"/>
                </a:solidFill>
                <a:latin typeface="DejaVu Sans"/>
                <a:ea typeface="DejaVu Sans"/>
                <a:cs typeface="DejaVu Sans"/>
              </a:rPr>
              <a:t>COMSATS University Islamabad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59BCC4-9E92-F336-7641-6B011C51E0A0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6076950" cy="1295400"/>
          </a:xfrm>
          <a:prstGeom prst="roundRect">
            <a:avLst>
              <a:gd name="adj" fmla="val 16667"/>
            </a:avLst>
          </a:prstGeom>
          <a:solidFill>
            <a:srgbClr val="F6C45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285CE-18C8-C033-6C30-7BDC0828085E}"/>
              </a:ext>
            </a:extLst>
          </p:cNvPr>
          <p:cNvSpPr>
            <a:spLocks noGrp="1"/>
          </p:cNvSpPr>
          <p:nvPr/>
        </p:nvSpPr>
        <p:spPr>
          <a:xfrm>
            <a:off x="914399" y="4391024"/>
            <a:ext cx="56102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44"/>
          </a:bodyPr>
          <a:lstStyle/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Dr. M. Tayyab Chaudhry</a:t>
            </a:r>
          </a:p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Associate Professor</a:t>
            </a:r>
          </a:p>
          <a:p>
            <a:pPr algn="ctr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75" b="1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Department of Computer Science, CUI Lahore</a:t>
            </a:r>
            <a:endParaRPr sz="1275" b="1" dirty="0">
              <a:solidFill>
                <a:srgbClr val="102A43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6983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8523E1E-B31A-46F1-94AD-420837CEA9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99EF5-05C8-4813-98F7-248ECCDB82E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E35D37-581E-439D-A2C5-80D58993D1A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D49511F-0F6C-431D-BDB9-1F18FD866402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69A3F-60FB-4D20-AFB4-7D668B905E2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87EFC-1359-4BA5-BD30-92F95DCC550B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5C5779-DD93-47CD-AE34-0C196C90AE05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4A0DE6-2486-415B-8AD1-1BED63A88C4C}"/>
              </a:ext>
            </a:extLst>
          </p:cNvPr>
          <p:cNvSpPr>
            <a:spLocks noGrp="1"/>
          </p:cNvSpPr>
          <p:nvPr/>
        </p:nvSpPr>
        <p:spPr>
          <a:xfrm>
            <a:off x="83820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25A5AE-7C30-4772-8FE4-A5B74CDEF580}"/>
              </a:ext>
            </a:extLst>
          </p:cNvPr>
          <p:cNvSpPr>
            <a:spLocks noGrp="1"/>
          </p:cNvSpPr>
          <p:nvPr/>
        </p:nvSpPr>
        <p:spPr>
          <a:xfrm>
            <a:off x="8382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Reasoning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597BD-5013-4F8D-BDC5-F9EFE65863C9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Contrast induction from observations with deduction from rules.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374E77-E3BF-455C-B512-125837B18FCA}"/>
              </a:ext>
            </a:extLst>
          </p:cNvPr>
          <p:cNvSpPr>
            <a:spLocks noGrp="1"/>
          </p:cNvSpPr>
          <p:nvPr/>
        </p:nvSpPr>
        <p:spPr>
          <a:xfrm>
            <a:off x="433705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B42FE7-60DF-45F7-9424-7DCFB73D7015}"/>
              </a:ext>
            </a:extLst>
          </p:cNvPr>
          <p:cNvSpPr>
            <a:spLocks noGrp="1"/>
          </p:cNvSpPr>
          <p:nvPr/>
        </p:nvSpPr>
        <p:spPr>
          <a:xfrm>
            <a:off x="456565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C5F81-11D7-40DC-AD2B-12EE09D6D1E9}"/>
              </a:ext>
            </a:extLst>
          </p:cNvPr>
          <p:cNvSpPr>
            <a:spLocks noGrp="1"/>
          </p:cNvSpPr>
          <p:nvPr/>
        </p:nvSpPr>
        <p:spPr>
          <a:xfrm>
            <a:off x="456565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Timing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8B8B63-1747-493A-AA6F-3FDD75B07F81}"/>
              </a:ext>
            </a:extLst>
          </p:cNvPr>
          <p:cNvSpPr>
            <a:spLocks noGrp="1"/>
          </p:cNvSpPr>
          <p:nvPr/>
        </p:nvSpPr>
        <p:spPr>
          <a:xfrm>
            <a:off x="456565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Choose between batch and online updating.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430FC6-14A1-4439-92D5-C6EA811F5CA6}"/>
              </a:ext>
            </a:extLst>
          </p:cNvPr>
          <p:cNvSpPr>
            <a:spLocks noGrp="1"/>
          </p:cNvSpPr>
          <p:nvPr/>
        </p:nvSpPr>
        <p:spPr>
          <a:xfrm>
            <a:off x="8064500" y="179070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AC2B83-297B-4ABF-B6AD-8C3AB6E53861}"/>
              </a:ext>
            </a:extLst>
          </p:cNvPr>
          <p:cNvSpPr>
            <a:spLocks noGrp="1"/>
          </p:cNvSpPr>
          <p:nvPr/>
        </p:nvSpPr>
        <p:spPr>
          <a:xfrm>
            <a:off x="8293100" y="20288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881923-3C8C-4A20-97CB-82B43212F61C}"/>
              </a:ext>
            </a:extLst>
          </p:cNvPr>
          <p:cNvSpPr>
            <a:spLocks noGrp="1"/>
          </p:cNvSpPr>
          <p:nvPr/>
        </p:nvSpPr>
        <p:spPr>
          <a:xfrm>
            <a:off x="8293100" y="265747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Representation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6B2371-AB3D-40A5-B8AA-AB8A95C548DB}"/>
              </a:ext>
            </a:extLst>
          </p:cNvPr>
          <p:cNvSpPr>
            <a:spLocks noGrp="1"/>
          </p:cNvSpPr>
          <p:nvPr/>
        </p:nvSpPr>
        <p:spPr>
          <a:xfrm>
            <a:off x="8293100" y="321945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Explain instance-based and model-based prediction.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EF7840-9297-4DE7-8E2A-52D6DFBDD6C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B8A25-9844-457E-9512-848B2501D1B3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0–5 min  Opening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32DCD3-EEAB-47A5-A188-C39E5485FBFD}"/>
              </a:ext>
            </a:extLst>
          </p:cNvPr>
          <p:cNvSpPr>
            <a:spLocks noGrp="1"/>
          </p:cNvSpPr>
          <p:nvPr/>
        </p:nvSpPr>
        <p:spPr>
          <a:xfrm>
            <a:off x="33528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19A7AE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AD8769-76A0-4719-91AB-CC02ACEB1A38}"/>
              </a:ext>
            </a:extLst>
          </p:cNvPr>
          <p:cNvSpPr>
            <a:spLocks noGrp="1"/>
          </p:cNvSpPr>
          <p:nvPr/>
        </p:nvSpPr>
        <p:spPr>
          <a:xfrm>
            <a:off x="34290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5–17 min  Reasoning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BAE6472-521A-4594-89D3-67D41BBD5BBA}"/>
              </a:ext>
            </a:extLst>
          </p:cNvPr>
          <p:cNvSpPr>
            <a:spLocks noGrp="1"/>
          </p:cNvSpPr>
          <p:nvPr/>
        </p:nvSpPr>
        <p:spPr>
          <a:xfrm>
            <a:off x="60960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7357C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AECA53-0574-48E2-A181-B80DF77C46AA}"/>
              </a:ext>
            </a:extLst>
          </p:cNvPr>
          <p:cNvSpPr>
            <a:spLocks noGrp="1"/>
          </p:cNvSpPr>
          <p:nvPr/>
        </p:nvSpPr>
        <p:spPr>
          <a:xfrm>
            <a:off x="61722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17–35 min  Modes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B60378-CD75-427D-B912-5C8DA8C49824}"/>
              </a:ext>
            </a:extLst>
          </p:cNvPr>
          <p:cNvSpPr>
            <a:spLocks noGrp="1"/>
          </p:cNvSpPr>
          <p:nvPr/>
        </p:nvSpPr>
        <p:spPr>
          <a:xfrm>
            <a:off x="8839200" y="5191125"/>
            <a:ext cx="2667000" cy="552450"/>
          </a:xfrm>
          <a:prstGeom prst="roundRect">
            <a:avLst>
              <a:gd name="adj" fmla="val 13793"/>
            </a:avLst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F506E2-0467-4B23-B187-DDB0382EBE00}"/>
              </a:ext>
            </a:extLst>
          </p:cNvPr>
          <p:cNvSpPr>
            <a:spLocks noGrp="1"/>
          </p:cNvSpPr>
          <p:nvPr/>
        </p:nvSpPr>
        <p:spPr>
          <a:xfrm>
            <a:off x="8915400" y="528637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35–45 min  Practice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533D63-93C5-4CCD-B59C-79CE27AC0B6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Suggested pacing</a:t>
            </a:r>
          </a:p>
        </p:txBody>
      </p:sp>
    </p:spTree>
    <p:extLst>
      <p:ext uri="{BB962C8B-B14F-4D97-AF65-F5344CB8AC3E}">
        <p14:creationId xmlns:p14="http://schemas.microsoft.com/office/powerpoint/2010/main" val="190959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C352B85-715C-40B6-9635-AC9D1471A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231A83-E375-4B15-A96A-392A3C5DEDF4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E3B06-AC70-4D61-8FFB-6C4AE550983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Three independent design axes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7482B6F-301F-4ED9-BA6B-06A3AA3489F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DC79A-DCF7-4967-BF95-268F5A77516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F0125B-BDDA-48B9-A14D-C18DD7F0A5F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BAC06F-03E2-4EE4-A2CE-AAB7B0B6F24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EF652F-B141-4A57-9369-9AD53B26E70F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7357C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A69A6-89BC-483E-9204-6D6BB605F2BF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Reasoning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CD6B5D-8E54-40D7-B8B9-B39CDC9AF238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Inductive ↔ deductive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How is knowledge produced?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D8AD60-D7D3-4D40-940C-890C5A10A00F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3E3081-805A-4E6F-8402-E858D531BCA6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C8A422-F30E-4A76-BD12-4D86BE437494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Update timing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01668-2243-417E-A565-15ABF63966D7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Batch ↔ online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When does the system learn?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24EC35-FF18-416B-8DD7-E3BF025592E3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0E3455-29BF-4B5B-B06C-26E8F973F05C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9A7AE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86C89B-FF7D-4048-AA86-6D3A01820C8D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Prediction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EB67AC-FCA3-413C-A5FC-E0D0A380ABEB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Instance-based ↔ model-based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What is retained?</a:t>
            </a:r>
          </a:p>
        </p:txBody>
      </p:sp>
    </p:spTree>
    <p:extLst>
      <p:ext uri="{BB962C8B-B14F-4D97-AF65-F5344CB8AC3E}">
        <p14:creationId xmlns:p14="http://schemas.microsoft.com/office/powerpoint/2010/main" val="47104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533E52-9A83-4941-9F38-39CDE70EBB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E98040-047B-4942-91F6-A89C9BDFF38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A3829-D833-4890-8A49-2845DFAC979D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Induction generalizes beyond observed examples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207C87E-CB4B-4985-BCFB-0C134D07C3A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B2C0B-D910-4150-B28E-597F0A62AD2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9899AC-64B6-442B-87D0-5CF137D02EE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18EC5C-6D78-4372-B201-FD2E2FD4F2A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143250" cy="304800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C53B6-EFB2-4BF6-828E-5C00F16D5A5B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ctr">
              <a:def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OBSERVATIONS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8E725-0F05-4BB1-BC15-516584832D96}"/>
              </a:ext>
            </a:extLst>
          </p:cNvPr>
          <p:cNvSpPr>
            <a:spLocks noGrp="1"/>
          </p:cNvSpPr>
          <p:nvPr/>
        </p:nvSpPr>
        <p:spPr>
          <a:xfrm>
            <a:off x="1238250" y="2762250"/>
            <a:ext cx="219075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Swan 1 is white</a:t>
            </a:r>
          </a:p>
          <a:p>
            <a:pPr algn="ctr">
              <a:def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Swan 2 is white</a:t>
            </a:r>
          </a:p>
          <a:p>
            <a:pPr algn="ctr">
              <a:def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Swan 3 is white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30C271-A0B4-4369-A897-4F01BC5A3EAF}"/>
              </a:ext>
            </a:extLst>
          </p:cNvPr>
          <p:cNvSpPr>
            <a:spLocks noGrp="1"/>
          </p:cNvSpPr>
          <p:nvPr/>
        </p:nvSpPr>
        <p:spPr>
          <a:xfrm>
            <a:off x="4095750" y="2905125"/>
            <a:ext cx="857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83"/>
          </a:bodyPr>
          <a:lstStyle/>
          <a:p>
            <a:pPr algn="ctr">
              <a:defRPr sz="3000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FA0312-92C2-4827-A02D-F7D718AF136C}"/>
              </a:ext>
            </a:extLst>
          </p:cNvPr>
          <p:cNvSpPr>
            <a:spLocks noGrp="1"/>
          </p:cNvSpPr>
          <p:nvPr/>
        </p:nvSpPr>
        <p:spPr>
          <a:xfrm>
            <a:off x="5095875" y="2143125"/>
            <a:ext cx="6048375" cy="2333625"/>
          </a:xfrm>
          <a:prstGeom prst="roundRect">
            <a:avLst>
              <a:gd name="adj" fmla="val 3265"/>
            </a:avLst>
          </a:prstGeom>
          <a:solidFill>
            <a:srgbClr val="F3EE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D6D73B-EDAA-49C4-A4B6-BC978F4B292F}"/>
              </a:ext>
            </a:extLst>
          </p:cNvPr>
          <p:cNvSpPr>
            <a:spLocks noGrp="1"/>
          </p:cNvSpPr>
          <p:nvPr/>
        </p:nvSpPr>
        <p:spPr>
          <a:xfrm>
            <a:off x="5619750" y="2428875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ctr">
              <a:defRPr sz="1800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HYPOTHESIS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A5D781-5EAF-43FD-A514-BFDDD46691DE}"/>
              </a:ext>
            </a:extLst>
          </p:cNvPr>
          <p:cNvSpPr>
            <a:spLocks noGrp="1"/>
          </p:cNvSpPr>
          <p:nvPr/>
        </p:nvSpPr>
        <p:spPr>
          <a:xfrm>
            <a:off x="5619750" y="3095625"/>
            <a:ext cx="50006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“Swans are usually white”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F727BE-B9E1-4498-A57E-23B074AC7F19}"/>
              </a:ext>
            </a:extLst>
          </p:cNvPr>
          <p:cNvSpPr>
            <a:spLocks noGrp="1"/>
          </p:cNvSpPr>
          <p:nvPr/>
        </p:nvSpPr>
        <p:spPr>
          <a:xfrm>
            <a:off x="5619750" y="3714750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Useful—but defeasible when new evidence appears</a:t>
            </a:r>
          </a:p>
        </p:txBody>
      </p:sp>
    </p:spTree>
    <p:extLst>
      <p:ext uri="{BB962C8B-B14F-4D97-AF65-F5344CB8AC3E}">
        <p14:creationId xmlns:p14="http://schemas.microsoft.com/office/powerpoint/2010/main" val="210945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2FB3B2-D13C-4BE3-90EC-0E50503DE1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04D752-A70F-4577-A60F-4F863BD9C36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AE7A9B-E06E-4B6B-87E1-DC39C9D921A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Deduction applies general knowledge to a case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E574F8C-69BD-4A9B-8E5B-A5A5E9E0278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7C341-3FCD-4D20-8AC6-50B139A0CEA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81CD5-CF98-4DF7-9B5A-FAD13D837A87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282EE4-7161-4E4E-91E3-2E92C825DA2E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382250" cy="857250"/>
          </a:xfrm>
          <a:prstGeom prst="roundRect">
            <a:avLst>
              <a:gd name="adj" fmla="val 8889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76359-8581-4301-A7BD-6BC20E15B1F3}"/>
              </a:ext>
            </a:extLst>
          </p:cNvPr>
          <p:cNvSpPr>
            <a:spLocks noGrp="1"/>
          </p:cNvSpPr>
          <p:nvPr/>
        </p:nvSpPr>
        <p:spPr>
          <a:xfrm>
            <a:off x="1095375" y="2000250"/>
            <a:ext cx="9715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77"/>
          </a:bodyPr>
          <a:lstStyle/>
          <a:p>
            <a:pPr algn="ctr">
              <a:defRPr sz="1800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Rule: If an email is from an unknown sender and contains an executable attachment, flag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7E5532-F576-427B-8B14-B12B8D3CBE9E}"/>
              </a:ext>
            </a:extLst>
          </p:cNvPr>
          <p:cNvSpPr>
            <a:spLocks noGrp="1"/>
          </p:cNvSpPr>
          <p:nvPr/>
        </p:nvSpPr>
        <p:spPr>
          <a:xfrm>
            <a:off x="5619750" y="2828925"/>
            <a:ext cx="95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187"/>
          </a:bodyPr>
          <a:lstStyle/>
          <a:p>
            <a:pPr algn="ctr">
              <a:defRPr sz="24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01383D-EAFF-4396-BB0C-D51C7D0A4E82}"/>
              </a:ext>
            </a:extLst>
          </p:cNvPr>
          <p:cNvSpPr>
            <a:spLocks noGrp="1"/>
          </p:cNvSpPr>
          <p:nvPr/>
        </p:nvSpPr>
        <p:spPr>
          <a:xfrm>
            <a:off x="1905000" y="3333750"/>
            <a:ext cx="8286750" cy="7620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D6E93-B054-41BA-A478-0A90A8E9B146}"/>
              </a:ext>
            </a:extLst>
          </p:cNvPr>
          <p:cNvSpPr>
            <a:spLocks noGrp="1"/>
          </p:cNvSpPr>
          <p:nvPr/>
        </p:nvSpPr>
        <p:spPr>
          <a:xfrm>
            <a:off x="2238375" y="347662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Case: message M has both properties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3377D-F334-479E-9FB2-ED7A0F3730D0}"/>
              </a:ext>
            </a:extLst>
          </p:cNvPr>
          <p:cNvSpPr>
            <a:spLocks noGrp="1"/>
          </p:cNvSpPr>
          <p:nvPr/>
        </p:nvSpPr>
        <p:spPr>
          <a:xfrm>
            <a:off x="5619750" y="4286250"/>
            <a:ext cx="95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187"/>
          </a:bodyPr>
          <a:lstStyle/>
          <a:p>
            <a:pPr algn="ctr">
              <a:defRPr sz="24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1C2DBE-2EF9-440A-BFF2-78759747644F}"/>
              </a:ext>
            </a:extLst>
          </p:cNvPr>
          <p:cNvSpPr>
            <a:spLocks noGrp="1"/>
          </p:cNvSpPr>
          <p:nvPr/>
        </p:nvSpPr>
        <p:spPr>
          <a:xfrm>
            <a:off x="3952875" y="485775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Therefore, flag M</a:t>
            </a:r>
          </a:p>
        </p:txBody>
      </p:sp>
    </p:spTree>
    <p:extLst>
      <p:ext uri="{BB962C8B-B14F-4D97-AF65-F5344CB8AC3E}">
        <p14:creationId xmlns:p14="http://schemas.microsoft.com/office/powerpoint/2010/main" val="185516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48D8EA6-7B7F-4439-AAEB-BA340E7EED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C5D11-FB24-4940-B01B-39F94CB15A4B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A68A59-6342-48B3-B9A2-3B8C8941FE5C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Induction and deduction work together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D925BB2-1025-4256-86DC-82F7595A973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8C283-E66D-4F92-A902-72F3BFB4591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0F390-EA6B-4F33-9578-2C17DFC94106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6101E1-8899-460F-931A-C8BCBB4F192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F3EE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487289-2523-463D-99C4-214B4B41780E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FB7F9D-8800-4925-8C1A-B2D720720049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Inductive phase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A7062-8699-45CF-B53A-26F521D35BE8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Examples → candidate rule or predictive model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Uncertainty enters through limited evidence and assumptions.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489C2-449F-41F9-B52C-C608970E7EA5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Deductive phase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6C9B39-3130-4892-92F1-23F09AE0D48C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Learned rule/model + new input → prediction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conclusion follows from the adopted model, not from certainty about reality.</a:t>
            </a:r>
          </a:p>
        </p:txBody>
      </p:sp>
    </p:spTree>
    <p:extLst>
      <p:ext uri="{BB962C8B-B14F-4D97-AF65-F5344CB8AC3E}">
        <p14:creationId xmlns:p14="http://schemas.microsoft.com/office/powerpoint/2010/main" val="157461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01F877B-2DEF-4AC4-9C7E-98D9AFF625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954A13-243C-40DB-B5D7-B1A0591535A3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A4C96F-BF66-4753-9CD0-F1A918BA7A25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Batch learning retrains on a collected dataset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C517997-12AD-4EF6-B9D3-6BDF232C7C7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6CA3F-E95B-4AB0-92E0-FCAEA853B6E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4830B-25E2-4A30-8A6A-28F37345BD84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974A3-EE26-4A9C-8D3F-629F1648C16C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Collect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27B00E9-5D5B-4F3C-AD56-8BBDE6DA699B}"/>
              </a:ext>
            </a:extLst>
          </p:cNvPr>
          <p:cNvSpPr>
            <a:spLocks noGrp="1"/>
          </p:cNvSpPr>
          <p:nvPr/>
        </p:nvSpPr>
        <p:spPr>
          <a:xfrm>
            <a:off x="2333625" y="2695575"/>
            <a:ext cx="1285875" cy="9525"/>
          </a:xfrm>
          <a:prstGeom prst="line">
            <a:avLst/>
          </a:prstGeom>
          <a:noFill/>
          <a:ln w="47625">
            <a:solidFill>
              <a:srgbClr val="1F6FE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E55B1-3203-4D41-8DBF-6487F2280E77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Train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CCBE34E-0D52-42F7-AA74-A3AE6F203C19}"/>
              </a:ext>
            </a:extLst>
          </p:cNvPr>
          <p:cNvSpPr>
            <a:spLocks noGrp="1"/>
          </p:cNvSpPr>
          <p:nvPr/>
        </p:nvSpPr>
        <p:spPr>
          <a:xfrm>
            <a:off x="5238750" y="2695575"/>
            <a:ext cx="1285875" cy="9525"/>
          </a:xfrm>
          <a:prstGeom prst="line">
            <a:avLst/>
          </a:prstGeom>
          <a:noFill/>
          <a:ln w="47625">
            <a:solidFill>
              <a:srgbClr val="1F6FE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7E3DE-7FC6-48AC-9CE9-9138427019C6}"/>
              </a:ext>
            </a:extLst>
          </p:cNvPr>
          <p:cNvSpPr>
            <a:spLocks noGrp="1"/>
          </p:cNvSpPr>
          <p:nvPr/>
        </p:nvSpPr>
        <p:spPr>
          <a:xfrm>
            <a:off x="6524625" y="24574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Deploy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57EFB56-7B2D-46AB-8E45-90B8B3DE031B}"/>
              </a:ext>
            </a:extLst>
          </p:cNvPr>
          <p:cNvSpPr>
            <a:spLocks noGrp="1"/>
          </p:cNvSpPr>
          <p:nvPr/>
        </p:nvSpPr>
        <p:spPr>
          <a:xfrm>
            <a:off x="8143875" y="2695575"/>
            <a:ext cx="1285875" cy="9525"/>
          </a:xfrm>
          <a:prstGeom prst="line">
            <a:avLst/>
          </a:prstGeom>
          <a:noFill/>
          <a:ln w="47625">
            <a:solidFill>
              <a:srgbClr val="1F6FE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FCD61-79FE-4822-840B-EA6C589A8FBB}"/>
              </a:ext>
            </a:extLst>
          </p:cNvPr>
          <p:cNvSpPr>
            <a:spLocks noGrp="1"/>
          </p:cNvSpPr>
          <p:nvPr/>
        </p:nvSpPr>
        <p:spPr>
          <a:xfrm>
            <a:off x="9429750" y="2457450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Monitor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224560-F0A3-4FC2-BB39-9EF13CC6B6EF}"/>
              </a:ext>
            </a:extLst>
          </p:cNvPr>
          <p:cNvSpPr>
            <a:spLocks noGrp="1"/>
          </p:cNvSpPr>
          <p:nvPr/>
        </p:nvSpPr>
        <p:spPr>
          <a:xfrm>
            <a:off x="1476375" y="3714750"/>
            <a:ext cx="9239250" cy="1000125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136DB-90E3-4C91-A986-99255CF2BDF8}"/>
              </a:ext>
            </a:extLst>
          </p:cNvPr>
          <p:cNvSpPr>
            <a:spLocks noGrp="1"/>
          </p:cNvSpPr>
          <p:nvPr/>
        </p:nvSpPr>
        <p:spPr>
          <a:xfrm>
            <a:off x="1809750" y="392430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000"/>
          </a:bodyPr>
          <a:lstStyle/>
          <a:p>
            <a:pPr algn="ctr">
              <a:defRPr sz="187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Updates happen at scheduled retraining points; production predictions use a fixed model between updates.</a:t>
            </a:r>
          </a:p>
        </p:txBody>
      </p:sp>
    </p:spTree>
    <p:extLst>
      <p:ext uri="{BB962C8B-B14F-4D97-AF65-F5344CB8AC3E}">
        <p14:creationId xmlns:p14="http://schemas.microsoft.com/office/powerpoint/2010/main" val="37413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0E5BA2-4582-43EE-B656-048194A8C3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E13171-30C2-4C61-9278-62F4FCECC94A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E1EB7-750B-484E-9CD6-066345B0684D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Online learning updates incrementally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595653B-8178-44F7-9EA0-7813DA33FA1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E29F6-2DDB-4D01-B6D5-A67A19293BE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96A1C-B47D-449A-8869-0695B38FB99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A97B50-C807-41BB-854E-734BD881C1B4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781050" cy="7810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F1D03A5-9322-4D7F-B68D-40EBF620AD80}"/>
              </a:ext>
            </a:extLst>
          </p:cNvPr>
          <p:cNvSpPr>
            <a:spLocks noGrp="1"/>
          </p:cNvSpPr>
          <p:nvPr/>
        </p:nvSpPr>
        <p:spPr>
          <a:xfrm>
            <a:off x="1781175" y="2533650"/>
            <a:ext cx="1219200" cy="9525"/>
          </a:xfrm>
          <a:prstGeom prst="line">
            <a:avLst/>
          </a:prstGeom>
          <a:noFill/>
          <a:ln w="3810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192D4D-0F02-43E7-901B-27048AEE2426}"/>
              </a:ext>
            </a:extLst>
          </p:cNvPr>
          <p:cNvSpPr>
            <a:spLocks noGrp="1"/>
          </p:cNvSpPr>
          <p:nvPr/>
        </p:nvSpPr>
        <p:spPr>
          <a:xfrm>
            <a:off x="3000375" y="2143125"/>
            <a:ext cx="781050" cy="7810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t2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6547896-7656-4397-BEA7-ED83AF073261}"/>
              </a:ext>
            </a:extLst>
          </p:cNvPr>
          <p:cNvSpPr>
            <a:spLocks noGrp="1"/>
          </p:cNvSpPr>
          <p:nvPr/>
        </p:nvSpPr>
        <p:spPr>
          <a:xfrm>
            <a:off x="3781425" y="2533650"/>
            <a:ext cx="1219200" cy="9525"/>
          </a:xfrm>
          <a:prstGeom prst="line">
            <a:avLst/>
          </a:prstGeom>
          <a:noFill/>
          <a:ln w="3810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0BAB24-3F11-46F8-BFAD-2F47F7F904AC}"/>
              </a:ext>
            </a:extLst>
          </p:cNvPr>
          <p:cNvSpPr>
            <a:spLocks noGrp="1"/>
          </p:cNvSpPr>
          <p:nvPr/>
        </p:nvSpPr>
        <p:spPr>
          <a:xfrm>
            <a:off x="5000625" y="2143125"/>
            <a:ext cx="781050" cy="7810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t3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81E0F91-109D-48F3-969A-C332C88F41A8}"/>
              </a:ext>
            </a:extLst>
          </p:cNvPr>
          <p:cNvSpPr>
            <a:spLocks noGrp="1"/>
          </p:cNvSpPr>
          <p:nvPr/>
        </p:nvSpPr>
        <p:spPr>
          <a:xfrm>
            <a:off x="5781675" y="2533650"/>
            <a:ext cx="1219200" cy="9525"/>
          </a:xfrm>
          <a:prstGeom prst="line">
            <a:avLst/>
          </a:prstGeom>
          <a:noFill/>
          <a:ln w="3810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AC4862-E1FB-4C32-AEDD-2B29FE79DB71}"/>
              </a:ext>
            </a:extLst>
          </p:cNvPr>
          <p:cNvSpPr>
            <a:spLocks noGrp="1"/>
          </p:cNvSpPr>
          <p:nvPr/>
        </p:nvSpPr>
        <p:spPr>
          <a:xfrm>
            <a:off x="7000875" y="2143125"/>
            <a:ext cx="781050" cy="7810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t4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FEF407F-276E-4D6D-B269-40D05089B228}"/>
              </a:ext>
            </a:extLst>
          </p:cNvPr>
          <p:cNvSpPr>
            <a:spLocks noGrp="1"/>
          </p:cNvSpPr>
          <p:nvPr/>
        </p:nvSpPr>
        <p:spPr>
          <a:xfrm>
            <a:off x="7781925" y="2533650"/>
            <a:ext cx="1219200" cy="9525"/>
          </a:xfrm>
          <a:prstGeom prst="line">
            <a:avLst/>
          </a:prstGeom>
          <a:noFill/>
          <a:ln w="3810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55734D-7708-4C4D-9FDC-4FEA572F1685}"/>
              </a:ext>
            </a:extLst>
          </p:cNvPr>
          <p:cNvSpPr>
            <a:spLocks noGrp="1"/>
          </p:cNvSpPr>
          <p:nvPr/>
        </p:nvSpPr>
        <p:spPr>
          <a:xfrm>
            <a:off x="9001125" y="2143125"/>
            <a:ext cx="781050" cy="7810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0EF31-6B30-4EE2-BEAC-B5C90579D9F9}"/>
              </a:ext>
            </a:extLst>
          </p:cNvPr>
          <p:cNvSpPr>
            <a:spLocks noGrp="1"/>
          </p:cNvSpPr>
          <p:nvPr/>
        </p:nvSpPr>
        <p:spPr>
          <a:xfrm>
            <a:off x="2381250" y="3667125"/>
            <a:ext cx="7429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observe → predict → receive feedback → update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4E45E3-C27D-4948-A039-4D57733383B1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8191500" cy="666750"/>
          </a:xfrm>
          <a:prstGeom prst="roundRect">
            <a:avLst>
              <a:gd name="adj" fmla="val 11429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7A3AA-D89F-4282-A0D5-5130EAA9A75D}"/>
              </a:ext>
            </a:extLst>
          </p:cNvPr>
          <p:cNvSpPr>
            <a:spLocks noGrp="1"/>
          </p:cNvSpPr>
          <p:nvPr/>
        </p:nvSpPr>
        <p:spPr>
          <a:xfrm>
            <a:off x="2238375" y="4695825"/>
            <a:ext cx="7715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126"/>
          </a:bodyPr>
          <a:lstStyle/>
          <a:p>
            <a:pPr algn="ctr">
              <a:defRPr sz="157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Useful for streams and drift; requires safeguards against noisy or malicious updates.</a:t>
            </a:r>
          </a:p>
        </p:txBody>
      </p:sp>
    </p:spTree>
    <p:extLst>
      <p:ext uri="{BB962C8B-B14F-4D97-AF65-F5344CB8AC3E}">
        <p14:creationId xmlns:p14="http://schemas.microsoft.com/office/powerpoint/2010/main" val="59564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CC9F8D-F29F-475F-9E7D-7E22958AC6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9D9436-8E24-4744-BECF-9BAD7A401D0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3D59B0-2B77-4FEA-9EB1-33841E8E466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Batch or online? Match the data-generating process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41750C3-88EE-4B37-B456-E270F79D02A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1FA11-0AB7-49D7-BD13-8F3E9E8DE2C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059B2-4FD3-40DB-B7C8-DA457F7997A7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905491-5BB4-460A-AF1D-FC558BEA773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D55D9F-C6FE-4062-8A5F-CFB9D328F000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DD8FC-C096-4962-8B16-9B786388F506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Prefer batch when…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AF076-97C2-4366-B9BE-3E18E00CFBF0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Data arrive in stable snapshots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Retraining cost is manageable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Reproducibility and approval gates matter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8792D-A5AF-41A6-A490-0AE7B25CE7A7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Prefer online when…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37FA34-FA96-4BD0-A0F6-C2B65B896094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Data stream continuously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Patterns change quickly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Low-latency adaptation has clear value</a:t>
            </a:r>
          </a:p>
        </p:txBody>
      </p:sp>
    </p:spTree>
    <p:extLst>
      <p:ext uri="{BB962C8B-B14F-4D97-AF65-F5344CB8AC3E}">
        <p14:creationId xmlns:p14="http://schemas.microsoft.com/office/powerpoint/2010/main" val="85178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0EE12F5-E85B-4365-AD11-E55DC9C28B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80CA75-8943-4559-A591-6538045E07E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34F74-EDA2-43D9-94EA-B0C11DCE741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Instance-based learning remembers examples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632A033-1F96-43D1-A584-434AC5979F8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9F782-C3EF-4248-A973-6F16EF0E059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9AE15-547E-4BC3-8DF3-6696A799B07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53F91D-FB74-44DB-972B-0CDD014A48E1}"/>
              </a:ext>
            </a:extLst>
          </p:cNvPr>
          <p:cNvSpPr>
            <a:spLocks noGrp="1"/>
          </p:cNvSpPr>
          <p:nvPr/>
        </p:nvSpPr>
        <p:spPr>
          <a:xfrm>
            <a:off x="1524000" y="2476500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41AF87-53B5-42CC-856F-471B7443332B}"/>
              </a:ext>
            </a:extLst>
          </p:cNvPr>
          <p:cNvSpPr>
            <a:spLocks noGrp="1"/>
          </p:cNvSpPr>
          <p:nvPr/>
        </p:nvSpPr>
        <p:spPr>
          <a:xfrm>
            <a:off x="2143125" y="2047875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26E632-A5D0-4300-AE58-4D6931D4A5CF}"/>
              </a:ext>
            </a:extLst>
          </p:cNvPr>
          <p:cNvSpPr>
            <a:spLocks noGrp="1"/>
          </p:cNvSpPr>
          <p:nvPr/>
        </p:nvSpPr>
        <p:spPr>
          <a:xfrm>
            <a:off x="2524125" y="2857500"/>
            <a:ext cx="323850" cy="3238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CDD6BB-DD6B-4C99-B39D-B2AA638C1ACB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96667E-4CAD-40D2-A491-D22FE85974D7}"/>
              </a:ext>
            </a:extLst>
          </p:cNvPr>
          <p:cNvSpPr>
            <a:spLocks noGrp="1"/>
          </p:cNvSpPr>
          <p:nvPr/>
        </p:nvSpPr>
        <p:spPr>
          <a:xfrm>
            <a:off x="4476750" y="3048000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2E1A6B-C8B3-4C77-A9B4-FFEFEF0A7F70}"/>
              </a:ext>
            </a:extLst>
          </p:cNvPr>
          <p:cNvSpPr>
            <a:spLocks noGrp="1"/>
          </p:cNvSpPr>
          <p:nvPr/>
        </p:nvSpPr>
        <p:spPr>
          <a:xfrm>
            <a:off x="5000625" y="2095500"/>
            <a:ext cx="323850" cy="323850"/>
          </a:xfrm>
          <a:prstGeom prst="ellipse">
            <a:avLst/>
          </a:prstGeom>
          <a:solidFill>
            <a:srgbClr val="F28C4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EA9198-24C9-4444-8AE0-7BADF55AC2D7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457200" cy="457200"/>
          </a:xfrm>
          <a:prstGeom prst="ellipse">
            <a:avLst/>
          </a:prstGeom>
          <a:solidFill>
            <a:srgbClr val="D64550"/>
          </a:solidFill>
          <a:ln w="0">
            <a:noFill/>
          </a:ln>
        </p:spPr>
        <p:txBody>
          <a:bodyPr anchor="ctr">
            <a:normAutofit fontScale="81137"/>
          </a:bodyPr>
          <a:lstStyle/>
          <a:p>
            <a:pPr algn="ctr"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8F7A4-E302-4CED-9CEC-879713195B95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457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122"/>
          </a:bodyPr>
          <a:lstStyle/>
          <a:p>
            <a:pPr algn="ctr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Compare a query with stored examples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F8DB49-03E4-4A98-BB95-304D4F5BF0ED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0005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Little explicit training</a:t>
            </a:r>
          </a:p>
          <a:p>
            <a:pPr algn="ctr">
              <a:defRPr sz="202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Prediction cost can grow with data</a:t>
            </a:r>
          </a:p>
        </p:txBody>
      </p:sp>
    </p:spTree>
    <p:extLst>
      <p:ext uri="{BB962C8B-B14F-4D97-AF65-F5344CB8AC3E}">
        <p14:creationId xmlns:p14="http://schemas.microsoft.com/office/powerpoint/2010/main" val="79150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594FC52-0534-4B50-8BCB-627F466A2A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4CAB2-5E24-4B5A-9885-ED0CDB7B3279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A7EF4-4051-4443-9DDC-7949D97DC457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Model-based learning compresses experience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8C7F0F4-D5F6-446A-BFF3-8E897EE7C5B3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7551-9260-4E37-8B33-1F10B3985FE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20FF63-A80F-4B48-9A6D-784F7887D3AD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F0159B-4DD1-43E8-B7C8-568360F5C055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857500" cy="1714500"/>
          </a:xfrm>
          <a:prstGeom prst="roundRect">
            <a:avLst>
              <a:gd name="adj" fmla="val 4444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4A0C9-D82E-4DBB-A984-A10F52629961}"/>
              </a:ext>
            </a:extLst>
          </p:cNvPr>
          <p:cNvSpPr>
            <a:spLocks noGrp="1"/>
          </p:cNvSpPr>
          <p:nvPr/>
        </p:nvSpPr>
        <p:spPr>
          <a:xfrm>
            <a:off x="1095375" y="2714625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TRAINING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FC1E9-A6BA-419F-9C92-CB5A58965778}"/>
              </a:ext>
            </a:extLst>
          </p:cNvPr>
          <p:cNvSpPr>
            <a:spLocks noGrp="1"/>
          </p:cNvSpPr>
          <p:nvPr/>
        </p:nvSpPr>
        <p:spPr>
          <a:xfrm>
            <a:off x="3810000" y="27622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defRPr sz="255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D6B76F-A5DE-4510-B7FE-F7DD0D69A02C}"/>
              </a:ext>
            </a:extLst>
          </p:cNvPr>
          <p:cNvSpPr>
            <a:spLocks noGrp="1"/>
          </p:cNvSpPr>
          <p:nvPr/>
        </p:nvSpPr>
        <p:spPr>
          <a:xfrm>
            <a:off x="4810125" y="2190750"/>
            <a:ext cx="2524125" cy="1714500"/>
          </a:xfrm>
          <a:prstGeom prst="roundRect">
            <a:avLst>
              <a:gd name="adj" fmla="val 4444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5AA313-BC84-41A3-BD6B-EFBBB53D0780}"/>
              </a:ext>
            </a:extLst>
          </p:cNvPr>
          <p:cNvSpPr>
            <a:spLocks noGrp="1"/>
          </p:cNvSpPr>
          <p:nvPr/>
        </p:nvSpPr>
        <p:spPr>
          <a:xfrm>
            <a:off x="5238750" y="2714625"/>
            <a:ext cx="16668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MODEL 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8DAA7-C2D7-401B-B200-A74F29951FE3}"/>
              </a:ext>
            </a:extLst>
          </p:cNvPr>
          <p:cNvSpPr>
            <a:spLocks noGrp="1"/>
          </p:cNvSpPr>
          <p:nvPr/>
        </p:nvSpPr>
        <p:spPr>
          <a:xfrm>
            <a:off x="7524750" y="2762250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defRPr sz="255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606FBA-5533-4E59-B471-E6A794C63342}"/>
              </a:ext>
            </a:extLst>
          </p:cNvPr>
          <p:cNvSpPr>
            <a:spLocks noGrp="1"/>
          </p:cNvSpPr>
          <p:nvPr/>
        </p:nvSpPr>
        <p:spPr>
          <a:xfrm>
            <a:off x="8524875" y="2190750"/>
            <a:ext cx="2857500" cy="1714500"/>
          </a:xfrm>
          <a:prstGeom prst="roundRect">
            <a:avLst>
              <a:gd name="adj" fmla="val 4444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A27CA9-27CF-4B44-A1C2-E90C3D40CC52}"/>
              </a:ext>
            </a:extLst>
          </p:cNvPr>
          <p:cNvSpPr>
            <a:spLocks noGrp="1"/>
          </p:cNvSpPr>
          <p:nvPr/>
        </p:nvSpPr>
        <p:spPr>
          <a:xfrm>
            <a:off x="8953500" y="271462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PREDICTION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7437B0-62D5-4D40-9734-D276F43E1284}"/>
              </a:ext>
            </a:extLst>
          </p:cNvPr>
          <p:cNvSpPr>
            <a:spLocks noGrp="1"/>
          </p:cNvSpPr>
          <p:nvPr/>
        </p:nvSpPr>
        <p:spPr>
          <a:xfrm>
            <a:off x="2000250" y="4619625"/>
            <a:ext cx="819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94"/>
          </a:bodyPr>
          <a:lstStyle/>
          <a:p>
            <a:pPr algn="ctr">
              <a:def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Experience is summarized into parameters or rules before prediction.</a:t>
            </a:r>
          </a:p>
        </p:txBody>
      </p:sp>
    </p:spTree>
    <p:extLst>
      <p:ext uri="{BB962C8B-B14F-4D97-AF65-F5344CB8AC3E}">
        <p14:creationId xmlns:p14="http://schemas.microsoft.com/office/powerpoint/2010/main" val="60113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5E947C7-5F6E-473F-B0FA-0D987F982F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BD1106-434B-4E0A-ACC7-3957AD5AAFC5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F1EC7-5563-4B97-AF11-41B6D00A7C8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Instance-based vs model-based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EB55EF5-3DAA-4166-993C-7DA26A3596E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86054E-5913-4EBE-BFDA-7D60840C55A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8F113-3BE2-443C-8753-B56A4526E701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9480C6-CA6D-448F-BC53-FE1EE5880CAB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A5B6EC-0B5E-4A96-9D31-B27E411A8E50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4D9A5-86BF-4597-B7B3-67D79D512979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Instance-based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4AB2F4-20CB-44BC-99B0-D5B12291A7FC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Retains many examples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Local similarity drives prediction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Fast fit, potentially slower prediction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Example: nearest neighbors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037C0-B5BC-4576-BA3A-862B67CBE9FC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Model-based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E4280F-717A-4163-ADFE-318CB9970D32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Fits a compact global or structured model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may be costly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Prediction is often fast</a:t>
            </a: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Example: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26182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BCA09E-5668-43DE-8D1B-9793B3BBF7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C348F4-D2F1-47D5-88AE-C1C5D6F0D3C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938BC-E002-42BD-A791-E6CA6741184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The axes can be mixed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825244-B745-4D34-9570-0D1FE0992F3D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921F44-718A-4215-940D-F6315CCA5BA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A78835-AB17-4B2C-AB07-D25CFCC7EC2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02F90D-636A-47C1-8A6D-6DF08E720E20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5179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E4D157-B97F-4493-8448-1FA63A171926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913A1D-386A-481E-8688-99B126CEA654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Fraud detector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734638-ED19-401E-BAFE-9A29C4F59DAF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30607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Inductive + online + model-based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Adapts a parametric classifier as transactions arrive.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B34C4-D497-4B04-AE1E-F0D7E99CC8C0}"/>
              </a:ext>
            </a:extLst>
          </p:cNvPr>
          <p:cNvSpPr>
            <a:spLocks noGrp="1"/>
          </p:cNvSpPr>
          <p:nvPr/>
        </p:nvSpPr>
        <p:spPr>
          <a:xfrm>
            <a:off x="4337050" y="1762125"/>
            <a:ext cx="35179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53D269-1C68-4DD7-ABD8-E8BBF55B71A9}"/>
              </a:ext>
            </a:extLst>
          </p:cNvPr>
          <p:cNvSpPr>
            <a:spLocks noGrp="1"/>
          </p:cNvSpPr>
          <p:nvPr/>
        </p:nvSpPr>
        <p:spPr>
          <a:xfrm>
            <a:off x="456565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6F9D26-CA23-43B1-8EE9-92A3706FC0F9}"/>
              </a:ext>
            </a:extLst>
          </p:cNvPr>
          <p:cNvSpPr>
            <a:spLocks noGrp="1"/>
          </p:cNvSpPr>
          <p:nvPr/>
        </p:nvSpPr>
        <p:spPr>
          <a:xfrm>
            <a:off x="456565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Case retrieval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E9C06B-C3A7-44EE-B6B2-583D9930F832}"/>
              </a:ext>
            </a:extLst>
          </p:cNvPr>
          <p:cNvSpPr>
            <a:spLocks noGrp="1"/>
          </p:cNvSpPr>
          <p:nvPr/>
        </p:nvSpPr>
        <p:spPr>
          <a:xfrm>
            <a:off x="4565650" y="3190875"/>
            <a:ext cx="30607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Inductive + batch + instance-based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Uses a fixed archive of solved cases.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E7A836-EC8D-4E85-BA83-FE3856806C9C}"/>
              </a:ext>
            </a:extLst>
          </p:cNvPr>
          <p:cNvSpPr>
            <a:spLocks noGrp="1"/>
          </p:cNvSpPr>
          <p:nvPr/>
        </p:nvSpPr>
        <p:spPr>
          <a:xfrm>
            <a:off x="8064500" y="1762125"/>
            <a:ext cx="35179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71A4A1-BEB6-4E19-A49D-C755B13A236E}"/>
              </a:ext>
            </a:extLst>
          </p:cNvPr>
          <p:cNvSpPr>
            <a:spLocks noGrp="1"/>
          </p:cNvSpPr>
          <p:nvPr/>
        </p:nvSpPr>
        <p:spPr>
          <a:xfrm>
            <a:off x="8293100" y="2000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1C67C-E031-4C14-B3FB-40139E3E9F37}"/>
              </a:ext>
            </a:extLst>
          </p:cNvPr>
          <p:cNvSpPr>
            <a:spLocks noGrp="1"/>
          </p:cNvSpPr>
          <p:nvPr/>
        </p:nvSpPr>
        <p:spPr>
          <a:xfrm>
            <a:off x="8293100" y="2628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Rule engine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E20DA-6F25-418E-ABAC-E6CDF4E9EC8F}"/>
              </a:ext>
            </a:extLst>
          </p:cNvPr>
          <p:cNvSpPr>
            <a:spLocks noGrp="1"/>
          </p:cNvSpPr>
          <p:nvPr/>
        </p:nvSpPr>
        <p:spPr>
          <a:xfrm>
            <a:off x="8293100" y="3190875"/>
            <a:ext cx="30607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Deductive + batch-maintained knowledge base</a:t>
            </a:r>
          </a:p>
          <a:p>
            <a:endParaRPr sz="1500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Applies explicit expert rules.</a:t>
            </a:r>
          </a:p>
        </p:txBody>
      </p:sp>
    </p:spTree>
    <p:extLst>
      <p:ext uri="{BB962C8B-B14F-4D97-AF65-F5344CB8AC3E}">
        <p14:creationId xmlns:p14="http://schemas.microsoft.com/office/powerpoint/2010/main" val="1843333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D14CF83-7C21-4149-AB98-36CC8290F5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BD8622-D2D5-4AED-BB76-1CA87FAD8BBA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61028-CA41-49FE-8B81-FFAAC65361E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Induction depends on an inductive bias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F9FB523-7F07-42A2-B326-1E5D7A21E1C7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A1BF8-7E63-4235-AC1F-DC4801BF124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EEBF9-D1F8-4895-9A3B-DA08093DF0D5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F82EA4-1D20-4298-9EC7-6BD6B8768444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287000" cy="1381125"/>
          </a:xfrm>
          <a:prstGeom prst="roundRect">
            <a:avLst>
              <a:gd name="adj" fmla="val 5517"/>
            </a:avLst>
          </a:prstGeom>
          <a:solidFill>
            <a:srgbClr val="F3EE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05137-8C84-40EF-A5FF-680E46005768}"/>
              </a:ext>
            </a:extLst>
          </p:cNvPr>
          <p:cNvSpPr>
            <a:spLocks noGrp="1"/>
          </p:cNvSpPr>
          <p:nvPr/>
        </p:nvSpPr>
        <p:spPr>
          <a:xfrm>
            <a:off x="1524000" y="2143125"/>
            <a:ext cx="914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Observed examples can support more than one rule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45A839-E6EC-47DC-BCF6-9A1DD25D3D3F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DC7E0-8D26-4076-88B4-25066F4E3C93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16C0D-7B69-4FC4-BBD6-88C5FDAB586E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Choice of 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0B073-8AA8-40F5-BBC7-7F28A68BE8A0}"/>
              </a:ext>
            </a:extLst>
          </p:cNvPr>
          <p:cNvSpPr>
            <a:spLocks noGrp="1"/>
          </p:cNvSpPr>
          <p:nvPr/>
        </p:nvSpPr>
        <p:spPr>
          <a:xfrm>
            <a:off x="83820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2500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representation excludes some possible explanations.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1451EE-B444-452F-BEE5-BC27A6B0F707}"/>
              </a:ext>
            </a:extLst>
          </p:cNvPr>
          <p:cNvSpPr>
            <a:spLocks noGrp="1"/>
          </p:cNvSpPr>
          <p:nvPr/>
        </p:nvSpPr>
        <p:spPr>
          <a:xfrm>
            <a:off x="433705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B28858-188C-4868-A13D-E9997349C4DD}"/>
              </a:ext>
            </a:extLst>
          </p:cNvPr>
          <p:cNvSpPr>
            <a:spLocks noGrp="1"/>
          </p:cNvSpPr>
          <p:nvPr/>
        </p:nvSpPr>
        <p:spPr>
          <a:xfrm>
            <a:off x="456565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FBA005-ED68-4536-8D12-E217CF86C26C}"/>
              </a:ext>
            </a:extLst>
          </p:cNvPr>
          <p:cNvSpPr>
            <a:spLocks noGrp="1"/>
          </p:cNvSpPr>
          <p:nvPr/>
        </p:nvSpPr>
        <p:spPr>
          <a:xfrm>
            <a:off x="456565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Search preference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8694E-B364-4DDF-B1A7-6CF251AD2538}"/>
              </a:ext>
            </a:extLst>
          </p:cNvPr>
          <p:cNvSpPr>
            <a:spLocks noGrp="1"/>
          </p:cNvSpPr>
          <p:nvPr/>
        </p:nvSpPr>
        <p:spPr>
          <a:xfrm>
            <a:off x="456565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2500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algorithm may prefer simpler or smoother hypotheses.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E0A6A6-A85E-4AF1-8433-88585F17C781}"/>
              </a:ext>
            </a:extLst>
          </p:cNvPr>
          <p:cNvSpPr>
            <a:spLocks noGrp="1"/>
          </p:cNvSpPr>
          <p:nvPr/>
        </p:nvSpPr>
        <p:spPr>
          <a:xfrm>
            <a:off x="8064500" y="3667125"/>
            <a:ext cx="35179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76056E-276D-4765-B413-C02567C919CB}"/>
              </a:ext>
            </a:extLst>
          </p:cNvPr>
          <p:cNvSpPr>
            <a:spLocks noGrp="1"/>
          </p:cNvSpPr>
          <p:nvPr/>
        </p:nvSpPr>
        <p:spPr>
          <a:xfrm>
            <a:off x="8293100" y="39052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2C71A9-F992-443C-BB9E-A8589226E7C5}"/>
              </a:ext>
            </a:extLst>
          </p:cNvPr>
          <p:cNvSpPr>
            <a:spLocks noGrp="1"/>
          </p:cNvSpPr>
          <p:nvPr/>
        </p:nvSpPr>
        <p:spPr>
          <a:xfrm>
            <a:off x="8293100" y="45339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Data assumptions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FE078A-7498-4FB1-A5EE-87CDCF1FAEA6}"/>
              </a:ext>
            </a:extLst>
          </p:cNvPr>
          <p:cNvSpPr>
            <a:spLocks noGrp="1"/>
          </p:cNvSpPr>
          <p:nvPr/>
        </p:nvSpPr>
        <p:spPr>
          <a:xfrm>
            <a:off x="8293100" y="5095875"/>
            <a:ext cx="306070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2500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Learning assumes future cases resemble the training process.</a:t>
            </a:r>
          </a:p>
        </p:txBody>
      </p:sp>
    </p:spTree>
    <p:extLst>
      <p:ext uri="{BB962C8B-B14F-4D97-AF65-F5344CB8AC3E}">
        <p14:creationId xmlns:p14="http://schemas.microsoft.com/office/powerpoint/2010/main" val="1063011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FC837C0-F8FF-4AFF-AB95-36C34C924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9CF076-8AD6-4FC8-B88D-9649A56D8A2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E2DADB-58A0-4D38-8053-83F02AE5784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Inductive and deductive reasoning compared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26FDF69-58EF-4BC7-BCBD-B5FEA35C0F3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1F3186-41C6-4247-ABEC-FD7D2A6CC01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4F767-DD2B-4CB9-B719-9EBF1523AF3E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43FDD3-485B-45FA-8071-14B82B6FEF8D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F3EE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BC0867-A5FC-4EA0-AC2B-9F5FFA5339F7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4FDD5-68CE-4963-B28F-6D31929365B4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Induction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AB63E-ACBA-478A-8FCB-82755D1868C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Direction: cases to a general pattern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Conclusion: plausible beyond observed data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Main risk: overgeneralization from limited or biased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4F0244-AD3A-4E5D-A623-A9A829F738F9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Deduction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DD5C41-75C7-40EF-94C6-C7602DFC58B5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Direction: rule plus case to a conclusion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Conclusion: follows if premises and rule hold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Main risk: incorrect or incomplete premises</a:t>
            </a:r>
          </a:p>
        </p:txBody>
      </p:sp>
    </p:spTree>
    <p:extLst>
      <p:ext uri="{BB962C8B-B14F-4D97-AF65-F5344CB8AC3E}">
        <p14:creationId xmlns:p14="http://schemas.microsoft.com/office/powerpoint/2010/main" val="35958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0F950E1-8662-4894-96D6-8885E3A22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3F487-35A7-4BFA-B8D6-35996E26F74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DE23D-D01A-4249-8A7F-72FE2EDA258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Worked reasoning example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509BEAB-1947-4F2D-AA38-06D1D004F3E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CD9D7-B285-452E-9B34-0FE375E2750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33883-600B-48DE-BD6F-8D43A1E4507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39CB1E-C852-4584-9140-9B19F21C15B3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AE0233-5966-4A68-9A3E-43759BA6FE0B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15"/>
          </a:bodyPr>
          <a:lstStyle/>
          <a:p>
            <a:pPr algn="ctr">
              <a:defRPr sz="1725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observations: warm, sunny days repeatedly receive the label EnjoySport = Yes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0B98B-5038-4BE2-BF46-8161F3EEFC45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7357C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357C8"/>
                </a:solidFill>
                <a:latin typeface="DejaVu Sans"/>
                <a:ea typeface="DejaVu Sans"/>
                <a:cs typeface="DejaVu Sans"/>
              </a:rPr>
              <a:t>Inductive step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52DD0-8C68-4BAD-B844-303E32123E32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Form the candidate rule: Sunny and Warm implies EnjoySport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EEA0A-F0CC-453F-9466-6CA617376893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Deductive step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F7A912-590B-4601-B2C0-B25C68599C08}"/>
              </a:ext>
            </a:extLst>
          </p:cNvPr>
          <p:cNvSpPr>
            <a:spLocks noGrp="1"/>
          </p:cNvSpPr>
          <p:nvPr/>
        </p:nvSpPr>
        <p:spPr>
          <a:xfrm>
            <a:off x="3429000" y="38576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Apply that rule to a new sunny, warm day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2F0983-9AC7-4C11-A59E-B5C1B3DCDDD7}"/>
              </a:ext>
            </a:extLst>
          </p:cNvPr>
          <p:cNvSpPr>
            <a:spLocks noGrp="1"/>
          </p:cNvSpPr>
          <p:nvPr/>
        </p:nvSpPr>
        <p:spPr>
          <a:xfrm>
            <a:off x="2000250" y="4905375"/>
            <a:ext cx="8191500" cy="590550"/>
          </a:xfrm>
          <a:prstGeom prst="roundRect">
            <a:avLst>
              <a:gd name="adj" fmla="val 1290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EB8318-B721-4E6D-83A8-4A2FA2D501F5}"/>
              </a:ext>
            </a:extLst>
          </p:cNvPr>
          <p:cNvSpPr>
            <a:spLocks noGrp="1"/>
          </p:cNvSpPr>
          <p:nvPr/>
        </p:nvSpPr>
        <p:spPr>
          <a:xfrm>
            <a:off x="2476500" y="502920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The prediction inherits uncertainty from the inductive rule.</a:t>
            </a:r>
          </a:p>
        </p:txBody>
      </p:sp>
    </p:spTree>
    <p:extLst>
      <p:ext uri="{BB962C8B-B14F-4D97-AF65-F5344CB8AC3E}">
        <p14:creationId xmlns:p14="http://schemas.microsoft.com/office/powerpoint/2010/main" val="1993419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8B1DB9E-FD00-4461-AD4B-F21070023F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0E1CA-8192-444E-8EF7-0E1A6CBDE0A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F4745-14E2-4629-A18C-01BA0994D1BF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Concept drift changes the value of old experience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7841645-C8DE-47DA-9E9A-BDC709B2F7E2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3063F-DC1D-4590-ADF0-FEC2CBABAE6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EB835D-FFCF-4611-8FCD-69EBAF29F10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D12CFD-ADBB-4FFF-9B47-875802E05F5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C8CE87-E5D4-4126-934E-33724849E1B8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0EB398-0E7C-4BA1-A437-1C047ED7EBE8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Stable relation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6CD265-101E-4964-AB69-598AB509E17D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mapping from inputs to outputs remains approximately constant.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65A55C-1614-4444-9CC0-5BC3B51B2809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C90F34-7FA8-4699-A5C9-9BFFD9248EB1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20D7D-361A-48B2-BA2E-450D068E376A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Gradual drift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6DEC67-428F-48DE-ADBC-DDC7CE0B333C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Preferences, populations or operating conditions change over time.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FE49D6-FEE7-498A-92CD-9B525F6A9CDD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390916F-B86E-4FCA-A595-D753DADB4ECF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F2D45-396C-483B-B4FF-27ED90A5BFBE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Abrupt drift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2F2A46-25DE-4C20-9777-8BA49D7415BE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policy change, failure or attack changes the pattern quickly.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B24620-086D-4F63-83F1-EB35D4ADB830}"/>
              </a:ext>
            </a:extLst>
          </p:cNvPr>
          <p:cNvSpPr>
            <a:spLocks noGrp="1"/>
          </p:cNvSpPr>
          <p:nvPr/>
        </p:nvSpPr>
        <p:spPr>
          <a:xfrm>
            <a:off x="1571625" y="5286375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611"/>
          </a:bodyPr>
          <a:lstStyle/>
          <a:p>
            <a:pPr algn="ctr">
              <a:def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Online learning can adapt faster, but monitoring must distinguish genuine drift from random noise.</a:t>
            </a:r>
          </a:p>
        </p:txBody>
      </p:sp>
    </p:spTree>
    <p:extLst>
      <p:ext uri="{BB962C8B-B14F-4D97-AF65-F5344CB8AC3E}">
        <p14:creationId xmlns:p14="http://schemas.microsoft.com/office/powerpoint/2010/main" val="125556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33F35F-CD5D-41D9-9021-3E34AA58B8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99DB5-F9AF-4E11-82AB-1466006225BD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14E00-2ACA-49D1-98B3-9FE3EA6C916D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Incremental update at one time step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308729-7C0E-47F9-A4D2-E96B889099E2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0B10E-D46E-4837-9A6A-16C3CDA4184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DD9DA-5580-4313-9C36-52CE6D331D62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B5D63D-3ABD-441C-8710-B2ED02486287}"/>
              </a:ext>
            </a:extLst>
          </p:cNvPr>
          <p:cNvSpPr>
            <a:spLocks noGrp="1"/>
          </p:cNvSpPr>
          <p:nvPr/>
        </p:nvSpPr>
        <p:spPr>
          <a:xfrm>
            <a:off x="1095375" y="1809750"/>
            <a:ext cx="10001250" cy="1000125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73FE9-E717-4A45-ADE4-D4DB92206B1F}"/>
              </a:ext>
            </a:extLst>
          </p:cNvPr>
          <p:cNvSpPr>
            <a:spLocks noGrp="1"/>
          </p:cNvSpPr>
          <p:nvPr/>
        </p:nvSpPr>
        <p:spPr>
          <a:xfrm>
            <a:off x="1714500" y="207645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Current model θₜ + new example (xₜ, yₜ)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5A47B-9C6A-480D-B21C-D17DEB9F719A}"/>
              </a:ext>
            </a:extLst>
          </p:cNvPr>
          <p:cNvSpPr>
            <a:spLocks noGrp="1"/>
          </p:cNvSpPr>
          <p:nvPr/>
        </p:nvSpPr>
        <p:spPr>
          <a:xfrm>
            <a:off x="4905375" y="3190875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Update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498014-3533-48BA-877C-94FCBAFD6AB2}"/>
              </a:ext>
            </a:extLst>
          </p:cNvPr>
          <p:cNvSpPr>
            <a:spLocks noGrp="1"/>
          </p:cNvSpPr>
          <p:nvPr/>
        </p:nvSpPr>
        <p:spPr>
          <a:xfrm>
            <a:off x="2857500" y="4000500"/>
            <a:ext cx="6477000" cy="1000125"/>
          </a:xfrm>
          <a:prstGeom prst="roundRect">
            <a:avLst>
              <a:gd name="adj" fmla="val 7619"/>
            </a:avLst>
          </a:prstGeom>
          <a:solidFill>
            <a:srgbClr val="E6F7F5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0ACAA-5344-4072-A991-95227ED87BC3}"/>
              </a:ext>
            </a:extLst>
          </p:cNvPr>
          <p:cNvSpPr>
            <a:spLocks noGrp="1"/>
          </p:cNvSpPr>
          <p:nvPr/>
        </p:nvSpPr>
        <p:spPr>
          <a:xfrm>
            <a:off x="3333750" y="4257675"/>
            <a:ext cx="5524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Revised model θₜ₊₁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811B5-72B1-4791-A619-BDB4D3AAF24F}"/>
              </a:ext>
            </a:extLst>
          </p:cNvPr>
          <p:cNvSpPr>
            <a:spLocks noGrp="1"/>
          </p:cNvSpPr>
          <p:nvPr/>
        </p:nvSpPr>
        <p:spPr>
          <a:xfrm>
            <a:off x="2381250" y="54292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93"/>
          </a:bodyPr>
          <a:lstStyle/>
          <a:p>
            <a:pPr algn="ctr">
              <a:defRPr sz="1650" b="1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learning rate controls how strongly one example changes the model.</a:t>
            </a:r>
          </a:p>
        </p:txBody>
      </p:sp>
    </p:spTree>
    <p:extLst>
      <p:ext uri="{BB962C8B-B14F-4D97-AF65-F5344CB8AC3E}">
        <p14:creationId xmlns:p14="http://schemas.microsoft.com/office/powerpoint/2010/main" val="70208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7C03292-3750-4AD7-B4F2-34B8957DDC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F5DA9-BD8B-493F-A163-46F97CEDF82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DC7D2-F846-480B-BA96-A6B9F7E09A7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Mini-batch learning is a practical middle ground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86BC085-359F-4A40-A67C-6ED3209B72E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CAA15-A6ED-40B0-B5A5-01E7A18D5328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7CF4C-94C8-478B-A24C-62F72B3EB3B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AC28BB-F2FB-444E-AE47-90BDBC275AFC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B2C3CB-7E5B-484A-9D39-A7D6F0B4A115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FC832B-3591-4240-A02A-AA2AF4E4C4C2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One example at a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BC8AB-9769-49BD-B1D0-E6470C430E6A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Frequent updates and quick adaptation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High sensitivity to ordering and noisy observations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B3746-2681-4C84-8490-E19F3197D078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Small groups of 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0322A-E674-471B-B983-43F0E7B726A5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More stable computation while retaining regular updates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Common in large-scale neural-network training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A2B7F3-A8DE-4828-B957-5CAFCFDE707D}"/>
              </a:ext>
            </a:extLst>
          </p:cNvPr>
          <p:cNvSpPr>
            <a:spLocks noGrp="1"/>
          </p:cNvSpPr>
          <p:nvPr/>
        </p:nvSpPr>
        <p:spPr>
          <a:xfrm>
            <a:off x="1571625" y="5095875"/>
            <a:ext cx="9048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04"/>
          </a:bodyPr>
          <a:lstStyle/>
          <a:p>
            <a:pPr algn="ctr">
              <a:def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Batch size changes the update schedule. It does not by itself change whether the task is supervised or unsupervised.</a:t>
            </a:r>
          </a:p>
        </p:txBody>
      </p:sp>
    </p:spTree>
    <p:extLst>
      <p:ext uri="{BB962C8B-B14F-4D97-AF65-F5344CB8AC3E}">
        <p14:creationId xmlns:p14="http://schemas.microsoft.com/office/powerpoint/2010/main" val="153292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4734BA5-CE7A-4CE3-BB30-6FA24AE85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A5605-6CD9-420A-AB82-5340BED6D58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2D3E51-6334-451B-9483-7AD3772678FF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Lazy and eager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CAEF905-8000-4888-94BC-7D351C8D780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8CB1B-7505-4562-A8DA-EA1DAF7E11A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64AD1-61CD-4480-8A67-E8CDD4FED486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922B28-C8FB-424B-A244-4648C2F2AAAF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497F8-4EE5-43CE-9BA0-0CFE0B7AE851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6E923-3F95-4A6F-A243-BCE091A4AC20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Lazy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C3427-CB58-449B-B18A-F9D59146D2C0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Defers most computation until a query arrives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Stores examples and constructs a local answer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Nearest-neighbour methods are the main 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4F00FB-9DA6-46C4-B16A-648BEE4EA450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Eager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F24FB-9235-4847-8518-1CA003CF50EC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Constructs a general model before receiving queries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carries the main computational cost</a:t>
            </a:r>
          </a:p>
          <a:p>
            <a:endParaRPr sz="1575" b="0">
              <a:solidFill>
                <a:srgbClr val="243B5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Decision trees and regression are examples</a:t>
            </a:r>
          </a:p>
        </p:txBody>
      </p:sp>
    </p:spTree>
    <p:extLst>
      <p:ext uri="{BB962C8B-B14F-4D97-AF65-F5344CB8AC3E}">
        <p14:creationId xmlns:p14="http://schemas.microsoft.com/office/powerpoint/2010/main" val="111275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070B658-3DB5-4748-83CD-D02C59B1D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7FE50-CF4D-4CE6-8222-12A0257B047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F747A4-6151-4FE1-8D5A-3D7874D6DA47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Class activity: classify the system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4FA8955-110D-44B5-8E80-D63426F8EF9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9E0F3-FAE0-4D86-8F6F-E7ABD8BEA9D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EB5674-3EE3-45EF-AA02-ABF2AF66B094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D0DEED-B25F-47AB-8935-0323AD0FD48D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5702B2-B9C4-4F07-8372-1DF6DB5AE1EE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952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864"/>
          </a:bodyPr>
          <a:lstStyle/>
          <a:p>
            <a:pPr algn="ctr">
              <a:def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weather service retrains a regression model every night using all observations collected so far.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30AF08-F116-4713-9396-0C0BA3BAF72D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5179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3F3CC6-13F4-456C-B914-FE098B81F7D5}"/>
              </a:ext>
            </a:extLst>
          </p:cNvPr>
          <p:cNvSpPr>
            <a:spLocks noGrp="1"/>
          </p:cNvSpPr>
          <p:nvPr/>
        </p:nvSpPr>
        <p:spPr>
          <a:xfrm>
            <a:off x="838200" y="3571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F2AD3-7E9A-4DE4-9C0E-92714D362F2C}"/>
              </a:ext>
            </a:extLst>
          </p:cNvPr>
          <p:cNvSpPr>
            <a:spLocks noGrp="1"/>
          </p:cNvSpPr>
          <p:nvPr/>
        </p:nvSpPr>
        <p:spPr>
          <a:xfrm>
            <a:off x="838200" y="4200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B1BDE-5389-4844-8B4F-74749F0004C8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30607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1792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Inductive: the model generalizes from recorded examples.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19D012-0CBF-4AC1-9CBE-A00C33C11DD7}"/>
              </a:ext>
            </a:extLst>
          </p:cNvPr>
          <p:cNvSpPr>
            <a:spLocks noGrp="1"/>
          </p:cNvSpPr>
          <p:nvPr/>
        </p:nvSpPr>
        <p:spPr>
          <a:xfrm>
            <a:off x="4337050" y="3333750"/>
            <a:ext cx="35179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364607-4BDC-4459-9FC8-430BB94D9170}"/>
              </a:ext>
            </a:extLst>
          </p:cNvPr>
          <p:cNvSpPr>
            <a:spLocks noGrp="1"/>
          </p:cNvSpPr>
          <p:nvPr/>
        </p:nvSpPr>
        <p:spPr>
          <a:xfrm>
            <a:off x="4565650" y="3571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98569F-B292-46E9-AFBE-3BA02988BB1B}"/>
              </a:ext>
            </a:extLst>
          </p:cNvPr>
          <p:cNvSpPr>
            <a:spLocks noGrp="1"/>
          </p:cNvSpPr>
          <p:nvPr/>
        </p:nvSpPr>
        <p:spPr>
          <a:xfrm>
            <a:off x="4565650" y="4200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Update timing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04DB51-6EF7-45BC-B992-AF52647ED257}"/>
              </a:ext>
            </a:extLst>
          </p:cNvPr>
          <p:cNvSpPr>
            <a:spLocks noGrp="1"/>
          </p:cNvSpPr>
          <p:nvPr/>
        </p:nvSpPr>
        <p:spPr>
          <a:xfrm>
            <a:off x="4565650" y="4762500"/>
            <a:ext cx="30607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6562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Batch: retraining occurs on a schedule using a collected dataset.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9C4E11-9135-4617-84FF-551CAEA84C8F}"/>
              </a:ext>
            </a:extLst>
          </p:cNvPr>
          <p:cNvSpPr>
            <a:spLocks noGrp="1"/>
          </p:cNvSpPr>
          <p:nvPr/>
        </p:nvSpPr>
        <p:spPr>
          <a:xfrm>
            <a:off x="8064500" y="3333750"/>
            <a:ext cx="35179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DF4853-597D-424E-90D4-396B17855058}"/>
              </a:ext>
            </a:extLst>
          </p:cNvPr>
          <p:cNvSpPr>
            <a:spLocks noGrp="1"/>
          </p:cNvSpPr>
          <p:nvPr/>
        </p:nvSpPr>
        <p:spPr>
          <a:xfrm>
            <a:off x="8293100" y="3571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09F68D-B4C0-462C-B376-E0B560BAED54}"/>
              </a:ext>
            </a:extLst>
          </p:cNvPr>
          <p:cNvSpPr>
            <a:spLocks noGrp="1"/>
          </p:cNvSpPr>
          <p:nvPr/>
        </p:nvSpPr>
        <p:spPr>
          <a:xfrm>
            <a:off x="8293100" y="4200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Representation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1F3F5B-AFFC-43C0-AFE1-CF230D5D7ECD}"/>
              </a:ext>
            </a:extLst>
          </p:cNvPr>
          <p:cNvSpPr>
            <a:spLocks noGrp="1"/>
          </p:cNvSpPr>
          <p:nvPr/>
        </p:nvSpPr>
        <p:spPr>
          <a:xfrm>
            <a:off x="8293100" y="4762500"/>
            <a:ext cx="30607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732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Model-based: prediction uses fitted parameters.</a:t>
            </a:r>
          </a:p>
        </p:txBody>
      </p:sp>
    </p:spTree>
    <p:extLst>
      <p:ext uri="{BB962C8B-B14F-4D97-AF65-F5344CB8AC3E}">
        <p14:creationId xmlns:p14="http://schemas.microsoft.com/office/powerpoint/2010/main" val="1340372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3C18AC-7204-418E-BAE9-89566A6D66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9610E-DA60-481D-AE67-07D0742D885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3B939-E26C-41A8-8C21-4C2D0E0FB10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Strengths and limits of batch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5CE20EC-FF21-47E2-AC60-24545B25DEE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A677AC-002A-4774-824F-1E0979C6995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49761-F384-44B1-B8DE-3C0C4D3FC186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B01774-DFC8-4B07-8215-FB9DD9E697B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74D3C9-F122-474B-A02E-8264E64D6CB9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FFF1F2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09F612-0F89-49BA-A606-B073E5AAB3A6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rPr>
              <a:t>Strengths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C8921-FAA1-4C53-BF77-3E9B48CB7C6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runs are reproducible. Teams can validate and approve a model before deployment. Stable snapshots simplify debugging.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5070D1-B7F4-4C52-85F1-F2350A7999D0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Limits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75C6F-5633-4502-86EE-7A0E33BF1C79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model becomes stale between retraining runs. Full retraining can be expensive. Sudden changes receive a delayed response.</a:t>
            </a:r>
          </a:p>
        </p:txBody>
      </p:sp>
    </p:spTree>
    <p:extLst>
      <p:ext uri="{BB962C8B-B14F-4D97-AF65-F5344CB8AC3E}">
        <p14:creationId xmlns:p14="http://schemas.microsoft.com/office/powerpoint/2010/main" val="154775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141AE6-9782-435A-9DF2-AE53CACC6C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3043C-1EAF-4013-B877-BF69E4E970BE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DF95E-62E0-4AE3-8B1D-0CA79241C43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Strengths and limits of online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68F091-C69A-4614-98F5-1F14E1DAA06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7086C-7D03-4E1B-8F44-4128324A3C4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04F53-6BD4-4495-92EC-B2A708115505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62AC7D-1B02-4D89-83A9-384990E4E2C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B15134-C3C9-406F-9149-BE1B0715A91F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FFF1F2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FAFC9-9582-4E8B-BDDF-1D15C4403C39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E8B57"/>
                </a:solidFill>
                <a:latin typeface="DejaVu Sans"/>
                <a:ea typeface="DejaVu Sans"/>
                <a:cs typeface="DejaVu Sans"/>
              </a:rPr>
              <a:t>Strengths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F8CAE-5841-4E97-992F-803987C67DC5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The learner processes streams without storing every past example. Frequent updates can follow changing patterns.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B33430-4FFF-4B54-9A08-A13281DEBC18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Limits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93D66-749F-4263-8CD5-4A0E124A7165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Noisy observations can damage the model quickly. Results depend on update order and rate. Rollback and monitoring become essential.</a:t>
            </a:r>
          </a:p>
        </p:txBody>
      </p:sp>
    </p:spTree>
    <p:extLst>
      <p:ext uri="{BB962C8B-B14F-4D97-AF65-F5344CB8AC3E}">
        <p14:creationId xmlns:p14="http://schemas.microsoft.com/office/powerpoint/2010/main" val="45496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2C59AEA-564B-40AB-BCC8-409133175D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5D716-0509-46C6-94D7-15BB250CFF00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7AC81E-7354-4E0D-B771-FF6BBE81D150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forgetting mechanism for changing data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CA3ADB0-C73A-4EBF-BFAC-5249CC0E0090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B6B356-CAC8-41A3-A595-B080D9D475E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9F995-E79B-4034-AB37-DB35377AF9D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247FB5-4995-4F45-9055-F44CF92F51AC}"/>
              </a:ext>
            </a:extLst>
          </p:cNvPr>
          <p:cNvSpPr>
            <a:spLocks noGrp="1"/>
          </p:cNvSpPr>
          <p:nvPr/>
        </p:nvSpPr>
        <p:spPr>
          <a:xfrm>
            <a:off x="1000125" y="1762125"/>
            <a:ext cx="10191750" cy="1000125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8B2741-DA0D-442E-8ED4-AC74A3D43308}"/>
              </a:ext>
            </a:extLst>
          </p:cNvPr>
          <p:cNvSpPr>
            <a:spLocks noGrp="1"/>
          </p:cNvSpPr>
          <p:nvPr/>
        </p:nvSpPr>
        <p:spPr>
          <a:xfrm>
            <a:off x="1619250" y="2047875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505"/>
          </a:bodyPr>
          <a:lstStyle/>
          <a:p>
            <a:pPr algn="ctr">
              <a:defRPr sz="217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Recent examples receive more influence than old examples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F71EC6-AE13-4DF8-BC3E-DDC2F5D2D0F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35179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2A6D09-3C19-46E1-B01E-318FE2336C3C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1A0FD-2194-48EC-B354-266F5F4D0347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Sliding window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5CE566-1796-4769-BA49-4B91C052234D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30607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547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 only on the most recent fixed number of observations.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B437C2-AE4C-4544-B59E-29CA96C301CE}"/>
              </a:ext>
            </a:extLst>
          </p:cNvPr>
          <p:cNvSpPr>
            <a:spLocks noGrp="1"/>
          </p:cNvSpPr>
          <p:nvPr/>
        </p:nvSpPr>
        <p:spPr>
          <a:xfrm>
            <a:off x="4337050" y="3476625"/>
            <a:ext cx="35179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9A364C-176D-4690-A604-1C1D5273D09B}"/>
              </a:ext>
            </a:extLst>
          </p:cNvPr>
          <p:cNvSpPr>
            <a:spLocks noGrp="1"/>
          </p:cNvSpPr>
          <p:nvPr/>
        </p:nvSpPr>
        <p:spPr>
          <a:xfrm>
            <a:off x="4565650" y="37147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9B31B2-F494-44CF-BBA0-D95766A61107}"/>
              </a:ext>
            </a:extLst>
          </p:cNvPr>
          <p:cNvSpPr>
            <a:spLocks noGrp="1"/>
          </p:cNvSpPr>
          <p:nvPr/>
        </p:nvSpPr>
        <p:spPr>
          <a:xfrm>
            <a:off x="4565650" y="43434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Decay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CCB079-4846-465F-8D1C-5816347AF0AF}"/>
              </a:ext>
            </a:extLst>
          </p:cNvPr>
          <p:cNvSpPr>
            <a:spLocks noGrp="1"/>
          </p:cNvSpPr>
          <p:nvPr/>
        </p:nvSpPr>
        <p:spPr>
          <a:xfrm>
            <a:off x="4565650" y="4905375"/>
            <a:ext cx="30607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9217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Reduce the weight of older observations gradually.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AFA70B-6E85-4EAB-8502-310D610ABD80}"/>
              </a:ext>
            </a:extLst>
          </p:cNvPr>
          <p:cNvSpPr>
            <a:spLocks noGrp="1"/>
          </p:cNvSpPr>
          <p:nvPr/>
        </p:nvSpPr>
        <p:spPr>
          <a:xfrm>
            <a:off x="8064500" y="3476625"/>
            <a:ext cx="35179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30A68B-AB12-494C-8228-6F2C104DB818}"/>
              </a:ext>
            </a:extLst>
          </p:cNvPr>
          <p:cNvSpPr>
            <a:spLocks noGrp="1"/>
          </p:cNvSpPr>
          <p:nvPr/>
        </p:nvSpPr>
        <p:spPr>
          <a:xfrm>
            <a:off x="8293100" y="3714750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EB635-DE05-462E-B4A9-80F9470F741E}"/>
              </a:ext>
            </a:extLst>
          </p:cNvPr>
          <p:cNvSpPr>
            <a:spLocks noGrp="1"/>
          </p:cNvSpPr>
          <p:nvPr/>
        </p:nvSpPr>
        <p:spPr>
          <a:xfrm>
            <a:off x="8293100" y="4343400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F19EDB-9FF7-410D-A0EA-F42331120F2F}"/>
              </a:ext>
            </a:extLst>
          </p:cNvPr>
          <p:cNvSpPr>
            <a:spLocks noGrp="1"/>
          </p:cNvSpPr>
          <p:nvPr/>
        </p:nvSpPr>
        <p:spPr>
          <a:xfrm>
            <a:off x="8293100" y="4905375"/>
            <a:ext cx="30607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4062"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Start a new model when monitoring detects a major regime change.</a:t>
            </a:r>
          </a:p>
        </p:txBody>
      </p:sp>
    </p:spTree>
    <p:extLst>
      <p:ext uri="{BB962C8B-B14F-4D97-AF65-F5344CB8AC3E}">
        <p14:creationId xmlns:p14="http://schemas.microsoft.com/office/powerpoint/2010/main" val="1436097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A063A4D-4753-4FAE-8513-17940500D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583DA-A201-4389-80DD-8D689F32F09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94041-4E3A-42E6-BB29-B11101318695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Similarity requires a distance definition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B9E2E47-42B1-472C-B510-9F5595BEE7C4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23D77-9E60-408C-B6DD-308F871E443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4C371-7D68-42A6-B820-9959FABC03D0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0AED92-B2A8-4344-B725-6990335977D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095625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C3D781-82FB-4501-8E86-64EC560C91B3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D6FA54-3EDB-43CC-A5E6-2BC5CF394F8D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Numeric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03B66-7281-4FBB-8AEC-6ED367804F03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Euclidean or Manhattan distance can compare scaled numerical vectors.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616827-CE60-4201-93F9-93869917C576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095625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B716B2-CDB1-493A-8D17-BF8A502516C7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A28692-1CE9-45B0-90C5-87D960DC6FA6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Categorical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595FC-83A4-44EA-8555-FF2F85E36E65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Matching rules or specialized distances compare categories.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CB784B-D8CC-498F-A658-566314A46DDF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095625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861B9C-B2E3-4004-A6EE-3ADFA764B38D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E74D87-B0D7-4A3E-9A75-1F7E7DC2AD59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Mixed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E9B760-713A-4DC2-9504-256646A16046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Feature weighting and preprocessing determine which attributes dominate.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47229D-2DFA-4CDE-8767-7262FDAFD980}"/>
              </a:ext>
            </a:extLst>
          </p:cNvPr>
          <p:cNvSpPr>
            <a:spLocks noGrp="1"/>
          </p:cNvSpPr>
          <p:nvPr/>
        </p:nvSpPr>
        <p:spPr>
          <a:xfrm>
            <a:off x="1619250" y="5238750"/>
            <a:ext cx="8953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611"/>
          </a:bodyPr>
          <a:lstStyle/>
          <a:p>
            <a:pPr algn="ctr">
              <a:defRPr sz="1800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Nearest-neighbour predictions can change substantially when features use incompatible scales.</a:t>
            </a:r>
          </a:p>
        </p:txBody>
      </p:sp>
    </p:spTree>
    <p:extLst>
      <p:ext uri="{BB962C8B-B14F-4D97-AF65-F5344CB8AC3E}">
        <p14:creationId xmlns:p14="http://schemas.microsoft.com/office/powerpoint/2010/main" val="1208995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D895F6-17A7-42D7-92B6-FA443F3F64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A5FFE6-2EBA-4A7F-8E30-B87FB16A486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F5E2B-B00C-40F0-9FFF-C6D5C167C15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Local and global generalization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10F8A0F-5CDA-48A8-933E-AAC721ADD563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2BDE9-15FF-4022-B21D-427238B2E4C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C6610-10B8-4F95-A075-0C9A94EC2C3A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C8525D-6CBF-4609-9CFC-86338654D39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612520-2FEC-434A-B579-EF81AF5451EF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D93DD-F064-44F5-A131-55CDE86839E3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Local generalization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C74D0-0FC6-42C5-B0A9-4217597211BE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A prediction depends mainly on nearby examples. The decision rule may vary across the input space. Instance-based learning commonly uses this approach.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791AD-404E-437A-8648-1B151CC58AF0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Global generalization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047020-A4F2-4864-B5BA-02AE2DF9AE76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One fitted structure describes the wider input space. A compact model can reveal broad trends but may miss local variation.</a:t>
            </a:r>
          </a:p>
        </p:txBody>
      </p:sp>
    </p:spTree>
    <p:extLst>
      <p:ext uri="{BB962C8B-B14F-4D97-AF65-F5344CB8AC3E}">
        <p14:creationId xmlns:p14="http://schemas.microsoft.com/office/powerpoint/2010/main" val="158326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F4BBC32-0272-4E34-80BC-BD8136FF3E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C2FED8-B13E-4EDF-A6AC-CBB68FEFBF82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84728-BFF0-4445-8949-63A56FAC78BF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Memory, training and prediction trade-offs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952F39D-6683-4BA2-AD19-266529EBB058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864A0-3881-4556-AB8B-2B18459BC12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E372D9-4BE2-466F-BD38-5439395EE6A6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81CD7A-5DAA-41BD-89B8-63FD68AFA24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1D6F59-C43C-4509-A4C2-86822CC35734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93E77F-5573-4980-8184-005422AB97AE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Instance-based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55E0B1-4C6A-4D8B-8D74-2BBA9FC00511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cost is low. Memory cost can be high. Prediction searches stored cases.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010566-947C-4CBF-8267-A68504411E07}"/>
              </a:ext>
            </a:extLst>
          </p:cNvPr>
          <p:cNvSpPr>
            <a:spLocks noGrp="1"/>
          </p:cNvSpPr>
          <p:nvPr/>
        </p:nvSpPr>
        <p:spPr>
          <a:xfrm>
            <a:off x="433705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E3930C-06A8-4E7A-A836-877D96EE8441}"/>
              </a:ext>
            </a:extLst>
          </p:cNvPr>
          <p:cNvSpPr>
            <a:spLocks noGrp="1"/>
          </p:cNvSpPr>
          <p:nvPr/>
        </p:nvSpPr>
        <p:spPr>
          <a:xfrm>
            <a:off x="456565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CDA48-BD75-4923-87B6-A78BEE853BB8}"/>
              </a:ext>
            </a:extLst>
          </p:cNvPr>
          <p:cNvSpPr>
            <a:spLocks noGrp="1"/>
          </p:cNvSpPr>
          <p:nvPr/>
        </p:nvSpPr>
        <p:spPr>
          <a:xfrm>
            <a:off x="456565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Model-based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F3E011-526B-4D83-A8F7-3B364640B533}"/>
              </a:ext>
            </a:extLst>
          </p:cNvPr>
          <p:cNvSpPr>
            <a:spLocks noGrp="1"/>
          </p:cNvSpPr>
          <p:nvPr/>
        </p:nvSpPr>
        <p:spPr>
          <a:xfrm>
            <a:off x="456565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Training compresses data into parameters. Prediction often uses only the fitted model.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C33CEF-F37C-4A55-BBFB-C092874653CC}"/>
              </a:ext>
            </a:extLst>
          </p:cNvPr>
          <p:cNvSpPr>
            <a:spLocks noGrp="1"/>
          </p:cNvSpPr>
          <p:nvPr/>
        </p:nvSpPr>
        <p:spPr>
          <a:xfrm>
            <a:off x="8064500" y="1809750"/>
            <a:ext cx="35179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5C54B3-07BF-4732-8966-02F55ED767AA}"/>
              </a:ext>
            </a:extLst>
          </p:cNvPr>
          <p:cNvSpPr>
            <a:spLocks noGrp="1"/>
          </p:cNvSpPr>
          <p:nvPr/>
        </p:nvSpPr>
        <p:spPr>
          <a:xfrm>
            <a:off x="8293100" y="204787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919798-1CB6-41EA-91AE-37BAC9BD9728}"/>
              </a:ext>
            </a:extLst>
          </p:cNvPr>
          <p:cNvSpPr>
            <a:spLocks noGrp="1"/>
          </p:cNvSpPr>
          <p:nvPr/>
        </p:nvSpPr>
        <p:spPr>
          <a:xfrm>
            <a:off x="8293100" y="2676525"/>
            <a:ext cx="3060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Hybrid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3AF743-9A1E-40B8-8149-ADC45E306058}"/>
              </a:ext>
            </a:extLst>
          </p:cNvPr>
          <p:cNvSpPr>
            <a:spLocks noGrp="1"/>
          </p:cNvSpPr>
          <p:nvPr/>
        </p:nvSpPr>
        <p:spPr>
          <a:xfrm>
            <a:off x="8293100" y="3238500"/>
            <a:ext cx="306070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Systems may store prototypes, summaries or recent examples alongside a model.</a:t>
            </a:r>
          </a:p>
        </p:txBody>
      </p:sp>
    </p:spTree>
    <p:extLst>
      <p:ext uri="{BB962C8B-B14F-4D97-AF65-F5344CB8AC3E}">
        <p14:creationId xmlns:p14="http://schemas.microsoft.com/office/powerpoint/2010/main" val="1568435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A364E44-929C-4D63-B516-8CEF7CE739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348DE6-87E9-4BB6-BA7C-9331682D6789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D9A881-ECC5-467F-9955-D9FC52E3796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Decision guide for learning modes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4E23BF7-1C0E-4CEA-9498-1AF52891F83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B6886-A007-4DE5-A195-0BDA78BC0BC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54A27-9F33-4CE0-815C-DED6F1E41985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AA1643-F4FF-45FC-8334-AC3850B2559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0CDEEF-36D5-4B6B-A78F-8BD181DA9E8A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CC887-EB03-4BA6-A455-818313AE5519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Data arrival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4ECBA-604A-42F4-A803-1F39B0AE2000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Snapshot or continuous stream?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C720A9-CE8B-47A8-9BAE-998500998219}"/>
              </a:ext>
            </a:extLst>
          </p:cNvPr>
          <p:cNvSpPr>
            <a:spLocks noGrp="1"/>
          </p:cNvSpPr>
          <p:nvPr/>
        </p:nvSpPr>
        <p:spPr>
          <a:xfrm>
            <a:off x="3405188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FA8F37-2DA3-44DD-A66B-9ED818EE63A1}"/>
              </a:ext>
            </a:extLst>
          </p:cNvPr>
          <p:cNvSpPr>
            <a:spLocks noGrp="1"/>
          </p:cNvSpPr>
          <p:nvPr/>
        </p:nvSpPr>
        <p:spPr>
          <a:xfrm>
            <a:off x="3633788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03124-C6EA-4C43-AB2A-A3374FACF24C}"/>
              </a:ext>
            </a:extLst>
          </p:cNvPr>
          <p:cNvSpPr>
            <a:spLocks noGrp="1"/>
          </p:cNvSpPr>
          <p:nvPr/>
        </p:nvSpPr>
        <p:spPr>
          <a:xfrm>
            <a:off x="3633788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62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Rate of change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4F3F5-F047-40A3-9524-4469F79F42F1}"/>
              </a:ext>
            </a:extLst>
          </p:cNvPr>
          <p:cNvSpPr>
            <a:spLocks noGrp="1"/>
          </p:cNvSpPr>
          <p:nvPr/>
        </p:nvSpPr>
        <p:spPr>
          <a:xfrm>
            <a:off x="3633788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Stable relation or concept drift?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4091C2-B1AE-4AA1-AC79-73EC656CDBA7}"/>
              </a:ext>
            </a:extLst>
          </p:cNvPr>
          <p:cNvSpPr>
            <a:spLocks noGrp="1"/>
          </p:cNvSpPr>
          <p:nvPr/>
        </p:nvSpPr>
        <p:spPr>
          <a:xfrm>
            <a:off x="6200775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0F5216-15A2-412D-82EE-82EE5182074A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F0657-24D5-4DB2-B2AE-95DEF96FA7D2}"/>
              </a:ext>
            </a:extLst>
          </p:cNvPr>
          <p:cNvSpPr>
            <a:spLocks noGrp="1"/>
          </p:cNvSpPr>
          <p:nvPr/>
        </p:nvSpPr>
        <p:spPr>
          <a:xfrm>
            <a:off x="6429375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374"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Response budget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5A8074-1BAC-4104-A8E5-B5B34929B17D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Can prediction search many stored examples?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DFCFE2-61E7-4260-ABA3-C98D84F7009C}"/>
              </a:ext>
            </a:extLst>
          </p:cNvPr>
          <p:cNvSpPr>
            <a:spLocks noGrp="1"/>
          </p:cNvSpPr>
          <p:nvPr/>
        </p:nvSpPr>
        <p:spPr>
          <a:xfrm>
            <a:off x="8996363" y="1714500"/>
            <a:ext cx="2586038" cy="366712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F0FB749-293C-4C9F-B3F6-3B1FDE59C406}"/>
              </a:ext>
            </a:extLst>
          </p:cNvPr>
          <p:cNvSpPr>
            <a:spLocks noGrp="1"/>
          </p:cNvSpPr>
          <p:nvPr/>
        </p:nvSpPr>
        <p:spPr>
          <a:xfrm>
            <a:off x="9224963" y="1952625"/>
            <a:ext cx="514350" cy="514350"/>
          </a:xfrm>
          <a:prstGeom prst="ellipse">
            <a:avLst/>
          </a:prstGeom>
          <a:solidFill>
            <a:srgbClr val="1F6FE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556B98-B4E8-4D43-B2F1-43598742A1F3}"/>
              </a:ext>
            </a:extLst>
          </p:cNvPr>
          <p:cNvSpPr>
            <a:spLocks noGrp="1"/>
          </p:cNvSpPr>
          <p:nvPr/>
        </p:nvSpPr>
        <p:spPr>
          <a:xfrm>
            <a:off x="9224963" y="2581275"/>
            <a:ext cx="2128838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Governance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D99E6E-27CA-4BE2-9444-6344558D9410}"/>
              </a:ext>
            </a:extLst>
          </p:cNvPr>
          <p:cNvSpPr>
            <a:spLocks noGrp="1"/>
          </p:cNvSpPr>
          <p:nvPr/>
        </p:nvSpPr>
        <p:spPr>
          <a:xfrm>
            <a:off x="9224963" y="3143250"/>
            <a:ext cx="2128838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Must every model update pass review before use?</a:t>
            </a:r>
          </a:p>
        </p:txBody>
      </p:sp>
    </p:spTree>
    <p:extLst>
      <p:ext uri="{BB962C8B-B14F-4D97-AF65-F5344CB8AC3E}">
        <p14:creationId xmlns:p14="http://schemas.microsoft.com/office/powerpoint/2010/main" val="1832856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112F68-C1B6-4B46-AB94-D866753D55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9DC3B-C399-4E3E-AECC-34B15528B716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B6CA8-B474-4E0B-A10B-4F75D622F3B1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Practice scenario: news recommendation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A3868A6-BCF4-48A5-B6F1-FB666D26197C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B87C-967B-4F90-9280-FB392F3BB076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E216F-944F-4B2F-9E3F-440156BBE259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BD4146-AC72-403C-9BCC-6DEE502CC39D}"/>
              </a:ext>
            </a:extLst>
          </p:cNvPr>
          <p:cNvSpPr>
            <a:spLocks noGrp="1"/>
          </p:cNvSpPr>
          <p:nvPr/>
        </p:nvSpPr>
        <p:spPr>
          <a:xfrm>
            <a:off x="904875" y="1666875"/>
            <a:ext cx="1038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E91DE-54B8-430C-A402-36AFCD6BEAA7}"/>
              </a:ext>
            </a:extLst>
          </p:cNvPr>
          <p:cNvSpPr>
            <a:spLocks noGrp="1"/>
          </p:cNvSpPr>
          <p:nvPr/>
        </p:nvSpPr>
        <p:spPr>
          <a:xfrm>
            <a:off x="1381125" y="1885950"/>
            <a:ext cx="9429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756"/>
          </a:bodyPr>
          <a:lstStyle/>
          <a:p>
            <a:pPr algn="ctr">
              <a:defRPr sz="19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service updates user profiles after each click but retrains its main ranking model weekly.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7C655F-8F5B-48CF-B39C-495E9ED1DCEF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286375" cy="4000500"/>
          </a:xfrm>
          <a:prstGeom prst="roundRect">
            <a:avLst>
              <a:gd name="adj" fmla="val 1905"/>
            </a:avLst>
          </a:prstGeom>
          <a:solidFill>
            <a:srgbClr val="EAF2FF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64525C-9A3F-4C1A-A84E-E1BE14559A1D}"/>
              </a:ext>
            </a:extLst>
          </p:cNvPr>
          <p:cNvSpPr>
            <a:spLocks noGrp="1"/>
          </p:cNvSpPr>
          <p:nvPr/>
        </p:nvSpPr>
        <p:spPr>
          <a:xfrm>
            <a:off x="6219825" y="1657350"/>
            <a:ext cx="5362575" cy="4000500"/>
          </a:xfrm>
          <a:prstGeom prst="roundRect">
            <a:avLst>
              <a:gd name="adj" fmla="val 1905"/>
            </a:avLst>
          </a:prstGeom>
          <a:solidFill>
            <a:srgbClr val="E6F7F5"/>
          </a:solidFill>
          <a:ln w="9525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71ED74-6092-4737-B21D-F88D60776CDB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User profile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C4C56-6BC6-4EFB-A2F1-BCC09C6BE76E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Online and incremental because each event changes the representation immediately.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69EABC-7B38-44E3-A486-ADE581F1A3AD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A7AE"/>
                </a:solidFill>
                <a:latin typeface="DejaVu Sans"/>
                <a:ea typeface="DejaVu Sans"/>
                <a:cs typeface="DejaVu Sans"/>
              </a:rPr>
              <a:t>Ranking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544635-46F0-4E52-B766-AC23DB2ABD82}"/>
              </a:ext>
            </a:extLst>
          </p:cNvPr>
          <p:cNvSpPr>
            <a:spLocks noGrp="1"/>
          </p:cNvSpPr>
          <p:nvPr/>
        </p:nvSpPr>
        <p:spPr>
          <a:xfrm>
            <a:off x="6486525" y="245745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B53"/>
                </a:solidFill>
                <a:latin typeface="DejaVu Sans"/>
                <a:ea typeface="DejaVu Sans"/>
                <a:cs typeface="DejaVu Sans"/>
              </a:rPr>
              <a:t>Batch learning because training uses a weekly collected dataset.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B8EEEB-63A4-4A96-946D-33286397E3B1}"/>
              </a:ext>
            </a:extLst>
          </p:cNvPr>
          <p:cNvSpPr>
            <a:spLocks noGrp="1"/>
          </p:cNvSpPr>
          <p:nvPr/>
        </p:nvSpPr>
        <p:spPr>
          <a:xfrm>
            <a:off x="1762125" y="5429250"/>
            <a:ext cx="866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680"/>
          </a:bodyPr>
          <a:lstStyle/>
          <a:p>
            <a:pPr algn="ctr">
              <a:defRPr sz="1725" b="1">
                <a:solidFill>
                  <a:srgbClr val="F28C4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28C45"/>
                </a:solidFill>
                <a:latin typeface="DejaVu Sans"/>
                <a:ea typeface="DejaVu Sans"/>
                <a:cs typeface="DejaVu Sans"/>
              </a:rPr>
              <a:t>One application can contain several learning components with different update schedules.</a:t>
            </a:r>
          </a:p>
        </p:txBody>
      </p:sp>
    </p:spTree>
    <p:extLst>
      <p:ext uri="{BB962C8B-B14F-4D97-AF65-F5344CB8AC3E}">
        <p14:creationId xmlns:p14="http://schemas.microsoft.com/office/powerpoint/2010/main" val="410438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815BDE-BD85-4082-BCD8-1A36266B90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6FEB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73AB6D-7F6F-448D-9E10-F76AC3EAA29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F6FEB"/>
                </a:solidFill>
                <a:latin typeface="DejaVu Sans"/>
                <a:ea typeface="DejaVu Sans"/>
                <a:cs typeface="DejaVu Sans"/>
              </a:rPr>
              <a:t>LECTURE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887C1-D6A4-4492-A109-D3A4CAA4147C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Exit check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DC592C8-DF3D-49FD-A407-0CDF20B14571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363200" cy="9525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6229F-4BF3-4C61-980D-8374117E0DC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/>
          </a:bodyPr>
          <a:lstStyle/>
          <a:p>
            <a:pPr algn="l">
              <a:def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AIC 354  • 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BBAA0-AB4F-48A1-A11F-8FFCA42E278C}"/>
              </a:ext>
            </a:extLst>
          </p:cNvPr>
          <p:cNvSpPr>
            <a:spLocks noGrp="1"/>
          </p:cNvSpPr>
          <p:nvPr/>
        </p:nvSpPr>
        <p:spPr>
          <a:xfrm>
            <a:off x="11096625" y="6419850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6A697D-DA33-4BD2-AA72-5670F5005EC8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287000" cy="238125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20AF54-5D0E-4828-B549-5AC96970BF1A}"/>
              </a:ext>
            </a:extLst>
          </p:cNvPr>
          <p:cNvSpPr>
            <a:spLocks noGrp="1"/>
          </p:cNvSpPr>
          <p:nvPr/>
        </p:nvSpPr>
        <p:spPr>
          <a:xfrm>
            <a:off x="1428750" y="23336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6C453"/>
                </a:solidFill>
                <a:latin typeface="DejaVu Sans"/>
                <a:ea typeface="DejaVu Sans"/>
                <a:cs typeface="DejaVu Sans"/>
              </a:rPr>
              <a:t>KEY TAKEAWAY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6D46A-5FE8-40C3-BA31-639E9F8F8668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9334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81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Describe a learning system along all three axes: reasoning, update timing and prediction representation.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C78810-A0F1-47D9-82F9-8C1D56ED562A}"/>
              </a:ext>
            </a:extLst>
          </p:cNvPr>
          <p:cNvSpPr>
            <a:spLocks noGrp="1"/>
          </p:cNvSpPr>
          <p:nvPr/>
        </p:nvSpPr>
        <p:spPr>
          <a:xfrm>
            <a:off x="2000250" y="4905375"/>
            <a:ext cx="8191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02"/>
          </a:bodyPr>
          <a:lstStyle/>
          <a:p>
            <a:pPr algn="ctr">
              <a:defRPr sz="165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Next: supervised learning, classification versus regression and concept search</a:t>
            </a:r>
          </a:p>
        </p:txBody>
      </p:sp>
    </p:spTree>
    <p:extLst>
      <p:ext uri="{BB962C8B-B14F-4D97-AF65-F5344CB8AC3E}">
        <p14:creationId xmlns:p14="http://schemas.microsoft.com/office/powerpoint/2010/main" val="6463328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Office PowerPoint</Application>
  <DocSecurity>0</DocSecurity>
  <PresentationFormat>Widescreen</PresentationFormat>
  <Paragraphs>402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Calibri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Dr. Muhammad Tayyab Chaudhry</cp:lastModifiedBy>
  <cp:revision>1</cp:revision>
  <dcterms:created xsi:type="dcterms:W3CDTF">2026-09-15T03:16:13Z</dcterms:created>
  <dcterms:modified xsi:type="dcterms:W3CDTF">2026-09-15T06:14:38Z</dcterms:modified>
</cp:coreProperties>
</file>