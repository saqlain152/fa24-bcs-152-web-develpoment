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66" y="-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 plan: AIC 354, Lecture 1. Core reading: Mitchell, Ch. 1; Alpaydin, Ch.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Instructor-created learning outcomes aligned with AIC 354 Lecture 1. Suggested total teaching time: 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Paraphrased from Mitchell, Machine Learning (1997), Section 1.1, Well-posed learning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1, Section 1.1. Example adapted to contemporary digit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Alpaydin, Introduction to Machine Learning (2004), Ch. 1, Sections 1.2.3–1.2.5; semi-supervised category added as required by course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Alpaydin (2004), Ch. 1 and Ch. 2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Alpaydin (2004), Ch. 1, Section 1.2.4, Unsupervised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Course-plan topic. Standard taxonomy; example framing by instructor.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Alpaydin (2004), Ch. 1, Section 1.2.5, Reinforcement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 of learning paradigms required in AIC 354 Lecture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case study designed for teaching. No clinical-performance claim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application. Alpaydin (2004), Ch. 1 discusses learning associations and personalization-related motivations.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synthesis. Generalization and problem-design themes follow Mitchell Ch. 1 and Alpaydin Ch.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guidance based on the well-posed learning problem framework in Mitchell Ch.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1. The multidisciplinary position of machine learning is discussed in the chapter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explanation based on Mitchell's well-posed learning problem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Alpaydin (2004), Ch. 2, supervised learning notation and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synthesis. Mitchell Ch. 1 covers problem definition and system design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supervised-learning evaluation practice; introduces concepts used later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worked example using Mitchell's T-P-E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Two-minute classroom activity. The paradigms follow Alpaydin, Ch.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 of data, objective and deployment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1, historical and multidisciplinary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Introductory data taxonomy used to connect applications with feature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explanation distinguishing prediction from causal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 of common introductory misconceptions.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Introductory responsible-ML considerations; no jurisdiction-specific legal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Instructor-created worked example using Mitchell's T-P-E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Lecture 1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Formative assessment prompt aligned with Lecture 1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3B91341-1D9A-4EFB-80C4-D007B374AC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9A7AE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E46A0-19E6-4093-8479-9594AC4E01FD}"/>
              </a:ext>
            </a:extLst>
          </p:cNvPr>
          <p:cNvSpPr>
            <a:spLocks noGrp="1"/>
          </p:cNvSpPr>
          <p:nvPr/>
        </p:nvSpPr>
        <p:spPr>
          <a:xfrm>
            <a:off x="781050" y="68580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6247-309F-4835-BDFB-0E8BDFC4F908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72390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is Machine Learning?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B10D46-2460-4107-A784-9CFF8C8A8907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65722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C8D8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C8D8E8"/>
                </a:solidFill>
                <a:latin typeface="DejaVu Sans"/>
                <a:ea typeface="DejaVu Sans"/>
                <a:cs typeface="DejaVu Sans"/>
              </a:rPr>
              <a:t>Definitions • learning paradigms • applications • challenges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434623-B0AD-4C66-A38E-ADC7379AD557}"/>
              </a:ext>
            </a:extLst>
          </p:cNvPr>
          <p:cNvSpPr>
            <a:spLocks noGrp="1"/>
          </p:cNvSpPr>
          <p:nvPr/>
        </p:nvSpPr>
        <p:spPr>
          <a:xfrm>
            <a:off x="914400" y="4391025"/>
            <a:ext cx="1543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544"/>
          </a:bodyPr>
          <a:lstStyle/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45-MINUTE CLASS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9617FB-7FE2-4E9D-BBBA-4B013A9FEF2F}"/>
              </a:ext>
            </a:extLst>
          </p:cNvPr>
          <p:cNvSpPr>
            <a:spLocks noGrp="1"/>
          </p:cNvSpPr>
          <p:nvPr/>
        </p:nvSpPr>
        <p:spPr>
          <a:xfrm>
            <a:off x="8429625" y="809625"/>
            <a:ext cx="2724150" cy="4524375"/>
          </a:xfrm>
          <a:prstGeom prst="roundRect">
            <a:avLst>
              <a:gd name="adj" fmla="val 2797"/>
            </a:avLst>
          </a:prstGeom>
          <a:solidFill>
            <a:srgbClr val="173F5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651192-7DAD-460E-A6F4-0F31BB16BE6C}"/>
              </a:ext>
            </a:extLst>
          </p:cNvPr>
          <p:cNvSpPr>
            <a:spLocks noGrp="1"/>
          </p:cNvSpPr>
          <p:nvPr/>
        </p:nvSpPr>
        <p:spPr>
          <a:xfrm>
            <a:off x="9124950" y="1495425"/>
            <a:ext cx="1333500" cy="133350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ML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F4EAA7F-80A4-4781-AE29-97EA6C7D470B}"/>
              </a:ext>
            </a:extLst>
          </p:cNvPr>
          <p:cNvSpPr>
            <a:spLocks noGrp="1"/>
          </p:cNvSpPr>
          <p:nvPr/>
        </p:nvSpPr>
        <p:spPr>
          <a:xfrm>
            <a:off x="9791700" y="3000375"/>
            <a:ext cx="9525" cy="1828800"/>
          </a:xfrm>
          <a:prstGeom prst="line">
            <a:avLst/>
          </a:prstGeom>
          <a:noFill/>
          <a:ln w="57150">
            <a:solidFill>
              <a:srgbClr val="5CC8C8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D35E30-3F2D-4FC0-B3E8-D6E690124309}"/>
              </a:ext>
            </a:extLst>
          </p:cNvPr>
          <p:cNvSpPr>
            <a:spLocks noGrp="1"/>
          </p:cNvSpPr>
          <p:nvPr/>
        </p:nvSpPr>
        <p:spPr>
          <a:xfrm>
            <a:off x="9277350" y="3190875"/>
            <a:ext cx="1028700" cy="102870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91D976-FAEB-43F6-9D0D-AECEF98E5804}"/>
              </a:ext>
            </a:extLst>
          </p:cNvPr>
          <p:cNvSpPr>
            <a:spLocks noGrp="1"/>
          </p:cNvSpPr>
          <p:nvPr/>
        </p:nvSpPr>
        <p:spPr>
          <a:xfrm>
            <a:off x="8696325" y="5067300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MACHINE</a:t>
            </a:r>
          </a:p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A7A05-EB30-4E0E-98EF-B57599B3B440}"/>
              </a:ext>
            </a:extLst>
          </p:cNvPr>
          <p:cNvSpPr>
            <a:spLocks noGrp="1"/>
          </p:cNvSpPr>
          <p:nvPr/>
        </p:nvSpPr>
        <p:spPr>
          <a:xfrm>
            <a:off x="809625" y="6000750"/>
            <a:ext cx="571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AFC5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FC5D8"/>
                </a:solidFill>
                <a:latin typeface="DejaVu Sans"/>
                <a:ea typeface="DejaVu Sans"/>
                <a:cs typeface="DejaVu Sans"/>
              </a:rPr>
              <a:t>COMSATS University Islamabad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F07BE4-AA6E-E62B-F119-7175F2E50EF8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6076950" cy="1295400"/>
          </a:xfrm>
          <a:prstGeom prst="roundRect">
            <a:avLst>
              <a:gd name="adj" fmla="val 16667"/>
            </a:avLst>
          </a:prstGeom>
          <a:solidFill>
            <a:srgbClr val="F6C453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105ED6-EE6D-659F-98C6-0282E5DFF3B4}"/>
              </a:ext>
            </a:extLst>
          </p:cNvPr>
          <p:cNvSpPr>
            <a:spLocks noGrp="1"/>
          </p:cNvSpPr>
          <p:nvPr/>
        </p:nvSpPr>
        <p:spPr>
          <a:xfrm>
            <a:off x="914399" y="4391024"/>
            <a:ext cx="5610225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44"/>
          </a:bodyPr>
          <a:lstStyle/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75" b="1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Dr. M. Tayyab Chaudhry</a:t>
            </a:r>
          </a:p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75" b="1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Associate Professor</a:t>
            </a:r>
          </a:p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75" b="1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Department of Computer Science, CUI Lahore</a:t>
            </a:r>
            <a:endParaRPr sz="1275" b="1" dirty="0">
              <a:solidFill>
                <a:srgbClr val="102A43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11425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9184B56-58B0-4160-8436-E127D43F1B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6EE59D-6F1E-4F78-9E20-6F9B6AE7DB6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7F2EA4-3905-4E82-9DDD-2752961C8F00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Learning outcomes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2947A63-9A38-4CC3-B75D-08A2E50B216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03EBE-1EE2-408E-A620-10983F49F87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74668-064B-4E48-AF95-1DB2F42B81AF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F8C67F-7C33-43C6-971D-009407751A77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4B4AF6-4DD6-493E-83A8-D2254FEF07D5}"/>
              </a:ext>
            </a:extLst>
          </p:cNvPr>
          <p:cNvSpPr>
            <a:spLocks noGrp="1"/>
          </p:cNvSpPr>
          <p:nvPr/>
        </p:nvSpPr>
        <p:spPr>
          <a:xfrm>
            <a:off x="838200" y="20288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DC5357-664F-4FB1-ABF0-A3A01AC95279}"/>
              </a:ext>
            </a:extLst>
          </p:cNvPr>
          <p:cNvSpPr>
            <a:spLocks noGrp="1"/>
          </p:cNvSpPr>
          <p:nvPr/>
        </p:nvSpPr>
        <p:spPr>
          <a:xfrm>
            <a:off x="83820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Define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287DA9-73CA-42C3-A959-45944AD4852A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Explain machine learning using Task, Performance and Experience.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00EF3C-270A-45D1-9B55-34FB676F0F29}"/>
              </a:ext>
            </a:extLst>
          </p:cNvPr>
          <p:cNvSpPr>
            <a:spLocks noGrp="1"/>
          </p:cNvSpPr>
          <p:nvPr/>
        </p:nvSpPr>
        <p:spPr>
          <a:xfrm>
            <a:off x="4337050" y="179070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40A30E-BA24-42BB-AAB8-0859C8762E1E}"/>
              </a:ext>
            </a:extLst>
          </p:cNvPr>
          <p:cNvSpPr>
            <a:spLocks noGrp="1"/>
          </p:cNvSpPr>
          <p:nvPr/>
        </p:nvSpPr>
        <p:spPr>
          <a:xfrm>
            <a:off x="4565650" y="20288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49494-029A-4996-98CD-FA0728331A9A}"/>
              </a:ext>
            </a:extLst>
          </p:cNvPr>
          <p:cNvSpPr>
            <a:spLocks noGrp="1"/>
          </p:cNvSpPr>
          <p:nvPr/>
        </p:nvSpPr>
        <p:spPr>
          <a:xfrm>
            <a:off x="456565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Distinguish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137E0B-4F75-40BD-8D5D-3A96DBF0C20D}"/>
              </a:ext>
            </a:extLst>
          </p:cNvPr>
          <p:cNvSpPr>
            <a:spLocks noGrp="1"/>
          </p:cNvSpPr>
          <p:nvPr/>
        </p:nvSpPr>
        <p:spPr>
          <a:xfrm>
            <a:off x="4565650" y="321945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Separate supervised, unsupervised, semi-supervised and reinforcement learning.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94CD38-9ADB-48F0-AC5A-09012225D327}"/>
              </a:ext>
            </a:extLst>
          </p:cNvPr>
          <p:cNvSpPr>
            <a:spLocks noGrp="1"/>
          </p:cNvSpPr>
          <p:nvPr/>
        </p:nvSpPr>
        <p:spPr>
          <a:xfrm>
            <a:off x="8064500" y="179070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16A9C82-F161-450F-9B81-C62E65F5A4CB}"/>
              </a:ext>
            </a:extLst>
          </p:cNvPr>
          <p:cNvSpPr>
            <a:spLocks noGrp="1"/>
          </p:cNvSpPr>
          <p:nvPr/>
        </p:nvSpPr>
        <p:spPr>
          <a:xfrm>
            <a:off x="8293100" y="20288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38612A-E2B8-444A-AE48-4C57787AAD4D}"/>
              </a:ext>
            </a:extLst>
          </p:cNvPr>
          <p:cNvSpPr>
            <a:spLocks noGrp="1"/>
          </p:cNvSpPr>
          <p:nvPr/>
        </p:nvSpPr>
        <p:spPr>
          <a:xfrm>
            <a:off x="829310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Evaluate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CC39CA-F740-4E24-8E1A-BAFCD9D44C12}"/>
              </a:ext>
            </a:extLst>
          </p:cNvPr>
          <p:cNvSpPr>
            <a:spLocks noGrp="1"/>
          </p:cNvSpPr>
          <p:nvPr/>
        </p:nvSpPr>
        <p:spPr>
          <a:xfrm>
            <a:off x="8293100" y="321945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Identify where ML is appropriate—and where it is not.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D6C3FF-D88D-4785-9BF1-3716CC61D928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342404-1229-456F-BD9B-EF01BECBF0A7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0–5 min  Opening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EC4117-9BF1-4288-A310-8C846FD7B43A}"/>
              </a:ext>
            </a:extLst>
          </p:cNvPr>
          <p:cNvSpPr>
            <a:spLocks noGrp="1"/>
          </p:cNvSpPr>
          <p:nvPr/>
        </p:nvSpPr>
        <p:spPr>
          <a:xfrm>
            <a:off x="33528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19A7AE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D08E9D-8CDC-408B-A496-EDF950A31C49}"/>
              </a:ext>
            </a:extLst>
          </p:cNvPr>
          <p:cNvSpPr>
            <a:spLocks noGrp="1"/>
          </p:cNvSpPr>
          <p:nvPr/>
        </p:nvSpPr>
        <p:spPr>
          <a:xfrm>
            <a:off x="34290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5–25 min  Concepts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00A466-2278-4DA6-8212-4AE07DEFD24E}"/>
              </a:ext>
            </a:extLst>
          </p:cNvPr>
          <p:cNvSpPr>
            <a:spLocks noGrp="1"/>
          </p:cNvSpPr>
          <p:nvPr/>
        </p:nvSpPr>
        <p:spPr>
          <a:xfrm>
            <a:off x="60960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7357C8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12A610-8981-408C-AA53-BDA7D48F62C1}"/>
              </a:ext>
            </a:extLst>
          </p:cNvPr>
          <p:cNvSpPr>
            <a:spLocks noGrp="1"/>
          </p:cNvSpPr>
          <p:nvPr/>
        </p:nvSpPr>
        <p:spPr>
          <a:xfrm>
            <a:off x="61722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25–40 min  Cases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635D54-E63C-4028-AB03-1AD27A754812}"/>
              </a:ext>
            </a:extLst>
          </p:cNvPr>
          <p:cNvSpPr>
            <a:spLocks noGrp="1"/>
          </p:cNvSpPr>
          <p:nvPr/>
        </p:nvSpPr>
        <p:spPr>
          <a:xfrm>
            <a:off x="88392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6FFB11-082E-4F99-8B2E-78A6D03B8E7E}"/>
              </a:ext>
            </a:extLst>
          </p:cNvPr>
          <p:cNvSpPr>
            <a:spLocks noGrp="1"/>
          </p:cNvSpPr>
          <p:nvPr/>
        </p:nvSpPr>
        <p:spPr>
          <a:xfrm>
            <a:off x="89154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40–45 min  Check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CFF00A-A818-41B1-8542-F7E5DC771717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Suggested pacing</a:t>
            </a:r>
          </a:p>
        </p:txBody>
      </p:sp>
    </p:spTree>
    <p:extLst>
      <p:ext uri="{BB962C8B-B14F-4D97-AF65-F5344CB8AC3E}">
        <p14:creationId xmlns:p14="http://schemas.microsoft.com/office/powerpoint/2010/main" val="8249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4F3300-A704-4F99-8A96-E847274F20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5629EE-D958-4AA6-9B2C-27E49924FAEC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0BF2A1-4006-4F3D-85DE-1E63CD8A765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precise definition of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71C7A4F-4A2A-4B68-B84D-5D62C22791A3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DEE383-7974-49AE-9458-A9A22B2CD28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B80744-9058-4CEB-87D8-90DC6D3D21E4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2F4C75-6FCD-4DC0-B8B8-BB1DC918A120}"/>
              </a:ext>
            </a:extLst>
          </p:cNvPr>
          <p:cNvSpPr>
            <a:spLocks noGrp="1"/>
          </p:cNvSpPr>
          <p:nvPr/>
        </p:nvSpPr>
        <p:spPr>
          <a:xfrm>
            <a:off x="714375" y="1762125"/>
            <a:ext cx="10763250" cy="1619250"/>
          </a:xfrm>
          <a:prstGeom prst="roundRect">
            <a:avLst>
              <a:gd name="adj" fmla="val 4706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04579-898D-494D-AE06-2749A588770F}"/>
              </a:ext>
            </a:extLst>
          </p:cNvPr>
          <p:cNvSpPr>
            <a:spLocks noGrp="1"/>
          </p:cNvSpPr>
          <p:nvPr/>
        </p:nvSpPr>
        <p:spPr>
          <a:xfrm>
            <a:off x="1066800" y="2047875"/>
            <a:ext cx="100488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63"/>
          </a:bodyPr>
          <a:lstStyle/>
          <a:p>
            <a:pPr algn="ctr">
              <a:defRPr sz="22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program learns from experience E, with respect to tasks T and performance measure P, when its performance at T—measured by P—improves with 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A8AA10-4350-464C-B2F6-6370DB2CE3C4}"/>
              </a:ext>
            </a:extLst>
          </p:cNvPr>
          <p:cNvSpPr>
            <a:spLocks noGrp="1"/>
          </p:cNvSpPr>
          <p:nvPr/>
        </p:nvSpPr>
        <p:spPr>
          <a:xfrm>
            <a:off x="1390650" y="3857625"/>
            <a:ext cx="94107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857"/>
          </a:bodyPr>
          <a:lstStyle/>
          <a:p>
            <a:pPr algn="ctr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A definition becomes operational only when T, P and E are measurable.</a:t>
            </a:r>
          </a:p>
        </p:txBody>
      </p:sp>
    </p:spTree>
    <p:extLst>
      <p:ext uri="{BB962C8B-B14F-4D97-AF65-F5344CB8AC3E}">
        <p14:creationId xmlns:p14="http://schemas.microsoft.com/office/powerpoint/2010/main" val="70784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1A08780-B08F-4303-B398-5887D9C8FA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536C4D-7D19-4DAC-8FDF-AC707FAE6A31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E6824-870B-4B25-B8E1-3736485AA292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Frame every ML problem with T–P–E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B3FD2C1-2A49-4963-8EC2-A80079FEE96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3139F-AB6F-4F29-B45B-E746B10F097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F2328-DE37-4D67-8FD6-6AD929F59AE9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68D234-151C-477D-B9D7-1B8AC230CF97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517900" cy="3286125"/>
          </a:xfrm>
          <a:prstGeom prst="roundRect">
            <a:avLst>
              <a:gd name="adj" fmla="val 2319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20136A-C838-4D98-B241-F400206CE825}"/>
              </a:ext>
            </a:extLst>
          </p:cNvPr>
          <p:cNvSpPr>
            <a:spLocks noGrp="1"/>
          </p:cNvSpPr>
          <p:nvPr/>
        </p:nvSpPr>
        <p:spPr>
          <a:xfrm>
            <a:off x="838200" y="20288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64BDC2-431D-42C0-958D-3242A8D68F0B}"/>
              </a:ext>
            </a:extLst>
          </p:cNvPr>
          <p:cNvSpPr>
            <a:spLocks noGrp="1"/>
          </p:cNvSpPr>
          <p:nvPr/>
        </p:nvSpPr>
        <p:spPr>
          <a:xfrm>
            <a:off x="83820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Task (T)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BD42AC-F939-48D2-BDC4-3877A50651FA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30607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What capability should improve?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Example: classify handwritten digits.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7DE168-29FA-4B41-B1B1-7D9789F02A7F}"/>
              </a:ext>
            </a:extLst>
          </p:cNvPr>
          <p:cNvSpPr>
            <a:spLocks noGrp="1"/>
          </p:cNvSpPr>
          <p:nvPr/>
        </p:nvSpPr>
        <p:spPr>
          <a:xfrm>
            <a:off x="4337050" y="1790700"/>
            <a:ext cx="3517900" cy="3286125"/>
          </a:xfrm>
          <a:prstGeom prst="roundRect">
            <a:avLst>
              <a:gd name="adj" fmla="val 2319"/>
            </a:avLst>
          </a:prstGeom>
          <a:solidFill>
            <a:srgbClr val="FFF4E8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4D43D-B392-474D-8E96-284E78C7AD08}"/>
              </a:ext>
            </a:extLst>
          </p:cNvPr>
          <p:cNvSpPr>
            <a:spLocks noGrp="1"/>
          </p:cNvSpPr>
          <p:nvPr/>
        </p:nvSpPr>
        <p:spPr>
          <a:xfrm>
            <a:off x="4565650" y="2028825"/>
            <a:ext cx="514350" cy="5143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5492BD-ED60-45C1-BED1-95D87FB39E44}"/>
              </a:ext>
            </a:extLst>
          </p:cNvPr>
          <p:cNvSpPr>
            <a:spLocks noGrp="1"/>
          </p:cNvSpPr>
          <p:nvPr/>
        </p:nvSpPr>
        <p:spPr>
          <a:xfrm>
            <a:off x="456565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Performance (P)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E8E98E-A153-46A6-80E8-1A497A86E313}"/>
              </a:ext>
            </a:extLst>
          </p:cNvPr>
          <p:cNvSpPr>
            <a:spLocks noGrp="1"/>
          </p:cNvSpPr>
          <p:nvPr/>
        </p:nvSpPr>
        <p:spPr>
          <a:xfrm>
            <a:off x="4565650" y="3219450"/>
            <a:ext cx="30607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How will improvement be measured?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Example: accuracy on unseen images.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3C9D4A-3ADD-4823-B774-F899FAD3D132}"/>
              </a:ext>
            </a:extLst>
          </p:cNvPr>
          <p:cNvSpPr>
            <a:spLocks noGrp="1"/>
          </p:cNvSpPr>
          <p:nvPr/>
        </p:nvSpPr>
        <p:spPr>
          <a:xfrm>
            <a:off x="8064500" y="1790700"/>
            <a:ext cx="3517900" cy="3286125"/>
          </a:xfrm>
          <a:prstGeom prst="roundRect">
            <a:avLst>
              <a:gd name="adj" fmla="val 2319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72B942-DDD4-4949-BC8E-55805570E148}"/>
              </a:ext>
            </a:extLst>
          </p:cNvPr>
          <p:cNvSpPr>
            <a:spLocks noGrp="1"/>
          </p:cNvSpPr>
          <p:nvPr/>
        </p:nvSpPr>
        <p:spPr>
          <a:xfrm>
            <a:off x="8293100" y="2028825"/>
            <a:ext cx="514350" cy="51435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4FB1B6-02FC-405E-B700-57EC78D5C13B}"/>
              </a:ext>
            </a:extLst>
          </p:cNvPr>
          <p:cNvSpPr>
            <a:spLocks noGrp="1"/>
          </p:cNvSpPr>
          <p:nvPr/>
        </p:nvSpPr>
        <p:spPr>
          <a:xfrm>
            <a:off x="829310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Experience (E)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A75402-E346-4BD2-BE44-A20A8359C34E}"/>
              </a:ext>
            </a:extLst>
          </p:cNvPr>
          <p:cNvSpPr>
            <a:spLocks noGrp="1"/>
          </p:cNvSpPr>
          <p:nvPr/>
        </p:nvSpPr>
        <p:spPr>
          <a:xfrm>
            <a:off x="8293100" y="3219450"/>
            <a:ext cx="30607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What information drives learning?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Example: labeled digit images.</a:t>
            </a:r>
          </a:p>
        </p:txBody>
      </p:sp>
    </p:spTree>
    <p:extLst>
      <p:ext uri="{BB962C8B-B14F-4D97-AF65-F5344CB8AC3E}">
        <p14:creationId xmlns:p14="http://schemas.microsoft.com/office/powerpoint/2010/main" val="1900827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18C42CE-2147-48FF-B903-2F656C0C17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F99517-28C7-4B20-A379-A0099A3375E6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7000E5-9C5C-4620-904B-A925C27F1A81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Four learning paradigms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974C82B-FED5-42FC-A458-1A6305E7728C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8E74E2-972E-44F3-9DBB-8550894B7BB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1AEDED-E482-48A6-82A0-775A4EF386F0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3DF805-6F4F-41CE-AA61-25C03C6D2DBD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586038" cy="371475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CEE6A8-AF96-4BCB-8D27-0EA740BF5702}"/>
              </a:ext>
            </a:extLst>
          </p:cNvPr>
          <p:cNvSpPr>
            <a:spLocks noGrp="1"/>
          </p:cNvSpPr>
          <p:nvPr/>
        </p:nvSpPr>
        <p:spPr>
          <a:xfrm>
            <a:off x="838200" y="19145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FCDF7B-17B4-40CD-88BD-5F27272C0C71}"/>
              </a:ext>
            </a:extLst>
          </p:cNvPr>
          <p:cNvSpPr>
            <a:spLocks noGrp="1"/>
          </p:cNvSpPr>
          <p:nvPr/>
        </p:nvSpPr>
        <p:spPr>
          <a:xfrm>
            <a:off x="838200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Supervised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280664-0C56-4A8D-B4C3-6393666EAB96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2128838" cy="2047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Learn input → target from labeled examples.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Classification or regression.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4A2ACC-6EFD-403F-AF2F-59E876E4A55A}"/>
              </a:ext>
            </a:extLst>
          </p:cNvPr>
          <p:cNvSpPr>
            <a:spLocks noGrp="1"/>
          </p:cNvSpPr>
          <p:nvPr/>
        </p:nvSpPr>
        <p:spPr>
          <a:xfrm>
            <a:off x="3405188" y="1676400"/>
            <a:ext cx="2586038" cy="371475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1F00D1-0574-416C-B694-ADE8A62111DD}"/>
              </a:ext>
            </a:extLst>
          </p:cNvPr>
          <p:cNvSpPr>
            <a:spLocks noGrp="1"/>
          </p:cNvSpPr>
          <p:nvPr/>
        </p:nvSpPr>
        <p:spPr>
          <a:xfrm>
            <a:off x="3633788" y="1914525"/>
            <a:ext cx="514350" cy="51435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EC3E53-FCDC-4E9E-AA72-54F38D8953E3}"/>
              </a:ext>
            </a:extLst>
          </p:cNvPr>
          <p:cNvSpPr>
            <a:spLocks noGrp="1"/>
          </p:cNvSpPr>
          <p:nvPr/>
        </p:nvSpPr>
        <p:spPr>
          <a:xfrm>
            <a:off x="3633788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Unsupervised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4E302-72BD-4FE9-A70F-9107622DAAAF}"/>
              </a:ext>
            </a:extLst>
          </p:cNvPr>
          <p:cNvSpPr>
            <a:spLocks noGrp="1"/>
          </p:cNvSpPr>
          <p:nvPr/>
        </p:nvSpPr>
        <p:spPr>
          <a:xfrm>
            <a:off x="3633788" y="3105150"/>
            <a:ext cx="2128838" cy="2047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Discover structure without target labels.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Clustering or representation.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E57BBD-6244-47A1-B311-34EB0A93357D}"/>
              </a:ext>
            </a:extLst>
          </p:cNvPr>
          <p:cNvSpPr>
            <a:spLocks noGrp="1"/>
          </p:cNvSpPr>
          <p:nvPr/>
        </p:nvSpPr>
        <p:spPr>
          <a:xfrm>
            <a:off x="6200775" y="1676400"/>
            <a:ext cx="2586038" cy="371475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582A1E-2B91-407C-9B1F-18566B3C39C8}"/>
              </a:ext>
            </a:extLst>
          </p:cNvPr>
          <p:cNvSpPr>
            <a:spLocks noGrp="1"/>
          </p:cNvSpPr>
          <p:nvPr/>
        </p:nvSpPr>
        <p:spPr>
          <a:xfrm>
            <a:off x="6429375" y="1914525"/>
            <a:ext cx="514350" cy="514350"/>
          </a:xfrm>
          <a:prstGeom prst="ellipse">
            <a:avLst/>
          </a:prstGeom>
          <a:solidFill>
            <a:srgbClr val="7357C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46C7D9-D78B-4F7B-9CA0-035B94FFA0D4}"/>
              </a:ext>
            </a:extLst>
          </p:cNvPr>
          <p:cNvSpPr>
            <a:spLocks noGrp="1"/>
          </p:cNvSpPr>
          <p:nvPr/>
        </p:nvSpPr>
        <p:spPr>
          <a:xfrm>
            <a:off x="6429375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126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Semi-supervised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D23E14-68E5-4287-A829-A5E5267641FD}"/>
              </a:ext>
            </a:extLst>
          </p:cNvPr>
          <p:cNvSpPr>
            <a:spLocks noGrp="1"/>
          </p:cNvSpPr>
          <p:nvPr/>
        </p:nvSpPr>
        <p:spPr>
          <a:xfrm>
            <a:off x="6429375" y="3105150"/>
            <a:ext cx="2128838" cy="2047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Combine a small labeled set with a larger unlabeled set.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AF8985-42C9-4D2F-96AB-4A4B7B58341A}"/>
              </a:ext>
            </a:extLst>
          </p:cNvPr>
          <p:cNvSpPr>
            <a:spLocks noGrp="1"/>
          </p:cNvSpPr>
          <p:nvPr/>
        </p:nvSpPr>
        <p:spPr>
          <a:xfrm>
            <a:off x="8996363" y="1676400"/>
            <a:ext cx="2586038" cy="371475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A5DA80-DA67-44DE-923B-09A109D1D602}"/>
              </a:ext>
            </a:extLst>
          </p:cNvPr>
          <p:cNvSpPr>
            <a:spLocks noGrp="1"/>
          </p:cNvSpPr>
          <p:nvPr/>
        </p:nvSpPr>
        <p:spPr>
          <a:xfrm>
            <a:off x="9224963" y="1914525"/>
            <a:ext cx="514350" cy="5143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1BE9D7-1CA4-4AC9-BBD4-524518040EB8}"/>
              </a:ext>
            </a:extLst>
          </p:cNvPr>
          <p:cNvSpPr>
            <a:spLocks noGrp="1"/>
          </p:cNvSpPr>
          <p:nvPr/>
        </p:nvSpPr>
        <p:spPr>
          <a:xfrm>
            <a:off x="9224963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438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Reinforcement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A5DDE3-90E5-46D5-A454-54E71BFF10F4}"/>
              </a:ext>
            </a:extLst>
          </p:cNvPr>
          <p:cNvSpPr>
            <a:spLocks noGrp="1"/>
          </p:cNvSpPr>
          <p:nvPr/>
        </p:nvSpPr>
        <p:spPr>
          <a:xfrm>
            <a:off x="9224963" y="3105150"/>
            <a:ext cx="2128838" cy="2047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Learn actions through rewards and interaction over time.</a:t>
            </a:r>
          </a:p>
        </p:txBody>
      </p:sp>
    </p:spTree>
    <p:extLst>
      <p:ext uri="{BB962C8B-B14F-4D97-AF65-F5344CB8AC3E}">
        <p14:creationId xmlns:p14="http://schemas.microsoft.com/office/powerpoint/2010/main" val="56314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D76555-4559-4874-8E5C-FCAE10EEFD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BF725-239A-4D3A-BEF8-4073F88DFE91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961EFF-50F3-423D-B280-78B06EB6EE81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Supervised learning: learn from answers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1E14327-1E83-412F-9F7C-391A6CED55C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DC5EB4-7059-46E2-953C-BFD950D4864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1C09A-C313-4FA4-87B3-B11DBDAD79DD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AD0AF9-3F9D-409D-A2D8-92A04002206E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782133-A994-4DF2-AE7A-F8BF6C8A6169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4545C2-ADB2-4D06-9121-A4C9D4AD58AF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Training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482251-C18D-4C55-B0F3-545D854A39A0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Inputs x paired with desired outputs y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(x₁,y₁), (x₂,y₂), …, (xₙ,yₙ)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Goal: learn f(x) ≈ 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ADFD75-DF16-4902-821C-00BB62D8AABC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Two output types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073296-FD15-4D47-B46B-9CF1B0A4180A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Classification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Discrete label: spam / not spam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Regression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Continuous value: house price</a:t>
            </a:r>
          </a:p>
        </p:txBody>
      </p:sp>
    </p:spTree>
    <p:extLst>
      <p:ext uri="{BB962C8B-B14F-4D97-AF65-F5344CB8AC3E}">
        <p14:creationId xmlns:p14="http://schemas.microsoft.com/office/powerpoint/2010/main" val="48501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4C7BCF5-D75F-49F1-958F-118221BC78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3164EA-AE7D-4FDF-B795-3501C32E82C5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ACDE1-4C27-4B16-B11F-CEFC417BC25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Unsupervised learning: reveal hidden structure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BE70D38-79C2-4BF4-B152-BDF701A1E8FB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02F6E-7405-41BA-95D0-BDF50B5B334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F4046-EDC3-45E7-983A-B01C4EA449EF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80F9D0-539D-4D42-B5DF-51B7C760C03B}"/>
              </a:ext>
            </a:extLst>
          </p:cNvPr>
          <p:cNvSpPr>
            <a:spLocks noGrp="1"/>
          </p:cNvSpPr>
          <p:nvPr/>
        </p:nvSpPr>
        <p:spPr>
          <a:xfrm>
            <a:off x="1143000" y="2333625"/>
            <a:ext cx="323850" cy="3238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42B088-724B-4F53-8336-CA3C17AFBDFC}"/>
              </a:ext>
            </a:extLst>
          </p:cNvPr>
          <p:cNvSpPr>
            <a:spLocks noGrp="1"/>
          </p:cNvSpPr>
          <p:nvPr/>
        </p:nvSpPr>
        <p:spPr>
          <a:xfrm>
            <a:off x="1809750" y="2905125"/>
            <a:ext cx="323850" cy="3238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138B93-E24F-4DDD-839C-7F80B74597F2}"/>
              </a:ext>
            </a:extLst>
          </p:cNvPr>
          <p:cNvSpPr>
            <a:spLocks noGrp="1"/>
          </p:cNvSpPr>
          <p:nvPr/>
        </p:nvSpPr>
        <p:spPr>
          <a:xfrm>
            <a:off x="2333625" y="2238375"/>
            <a:ext cx="323850" cy="3238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61E389-3354-4E40-AE92-9656F3B1F425}"/>
              </a:ext>
            </a:extLst>
          </p:cNvPr>
          <p:cNvSpPr>
            <a:spLocks noGrp="1"/>
          </p:cNvSpPr>
          <p:nvPr/>
        </p:nvSpPr>
        <p:spPr>
          <a:xfrm>
            <a:off x="3762375" y="3429000"/>
            <a:ext cx="323850" cy="3238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46B485-0BCB-43F6-8BA4-B49D0A9BD1BE}"/>
              </a:ext>
            </a:extLst>
          </p:cNvPr>
          <p:cNvSpPr>
            <a:spLocks noGrp="1"/>
          </p:cNvSpPr>
          <p:nvPr/>
        </p:nvSpPr>
        <p:spPr>
          <a:xfrm>
            <a:off x="4333875" y="2714625"/>
            <a:ext cx="323850" cy="3238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5865A1-6373-4C3F-A559-D04F3A4CE7F2}"/>
              </a:ext>
            </a:extLst>
          </p:cNvPr>
          <p:cNvSpPr>
            <a:spLocks noGrp="1"/>
          </p:cNvSpPr>
          <p:nvPr/>
        </p:nvSpPr>
        <p:spPr>
          <a:xfrm>
            <a:off x="4953000" y="3381375"/>
            <a:ext cx="323850" cy="3238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91B0AFF-2E74-4D77-8FD1-8994A39803C5}"/>
              </a:ext>
            </a:extLst>
          </p:cNvPr>
          <p:cNvSpPr>
            <a:spLocks noGrp="1"/>
          </p:cNvSpPr>
          <p:nvPr/>
        </p:nvSpPr>
        <p:spPr>
          <a:xfrm>
            <a:off x="6334125" y="2190750"/>
            <a:ext cx="323850" cy="32385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4428C1-64F7-4C78-9E6F-B22096030D5D}"/>
              </a:ext>
            </a:extLst>
          </p:cNvPr>
          <p:cNvSpPr>
            <a:spLocks noGrp="1"/>
          </p:cNvSpPr>
          <p:nvPr/>
        </p:nvSpPr>
        <p:spPr>
          <a:xfrm>
            <a:off x="6953250" y="2714625"/>
            <a:ext cx="323850" cy="32385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344CC9-DC0F-4A10-AFF7-ABDB685A081A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323850" cy="32385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295617-8231-4149-8E64-5D18B4963B5B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No target y is supplied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882A1-3502-458A-B0FD-19CB68C2D530}"/>
              </a:ext>
            </a:extLst>
          </p:cNvPr>
          <p:cNvSpPr>
            <a:spLocks noGrp="1"/>
          </p:cNvSpPr>
          <p:nvPr/>
        </p:nvSpPr>
        <p:spPr>
          <a:xfrm>
            <a:off x="5429250" y="2428875"/>
            <a:ext cx="542925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learner seeks clusters, compact representations, associations, or anomalies.</a:t>
            </a:r>
          </a:p>
        </p:txBody>
      </p:sp>
    </p:spTree>
    <p:extLst>
      <p:ext uri="{BB962C8B-B14F-4D97-AF65-F5344CB8AC3E}">
        <p14:creationId xmlns:p14="http://schemas.microsoft.com/office/powerpoint/2010/main" val="114577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7386BC-73C0-48E8-A14A-4DB16B9154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45730B-6757-40E4-8129-6287BE0CC449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27B99-0A58-42C2-A6D2-52BA71527F5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Semi-supervised learning: labels are scarce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C7BB1D0-B49F-438F-8CFF-F37232B2216A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6214EF-4CCC-485B-8186-70A8210B342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62F10-5660-4F88-9D1A-C99E410D979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9F23F4-7DC2-488E-946A-02B176A5814C}"/>
              </a:ext>
            </a:extLst>
          </p:cNvPr>
          <p:cNvSpPr>
            <a:spLocks noGrp="1"/>
          </p:cNvSpPr>
          <p:nvPr/>
        </p:nvSpPr>
        <p:spPr>
          <a:xfrm>
            <a:off x="809625" y="1905000"/>
            <a:ext cx="4572000" cy="3095625"/>
          </a:xfrm>
          <a:prstGeom prst="roundRect">
            <a:avLst>
              <a:gd name="adj" fmla="val 2462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EDD595-56F2-405C-9E65-7539A1185DAA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Labeled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34CBD3-7B27-4B1B-8B70-628D8BC1C1A6}"/>
              </a:ext>
            </a:extLst>
          </p:cNvPr>
          <p:cNvSpPr>
            <a:spLocks noGrp="1"/>
          </p:cNvSpPr>
          <p:nvPr/>
        </p:nvSpPr>
        <p:spPr>
          <a:xfrm>
            <a:off x="1381125" y="285750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765"/>
          </a:bodyPr>
          <a:lstStyle/>
          <a:p>
            <a:pPr algn="ctr">
              <a:defRPr sz="255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●  ●  ●  ●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53ACC-192E-4171-ACF8-30D2527A4D6E}"/>
              </a:ext>
            </a:extLst>
          </p:cNvPr>
          <p:cNvSpPr>
            <a:spLocks noGrp="1"/>
          </p:cNvSpPr>
          <p:nvPr/>
        </p:nvSpPr>
        <p:spPr>
          <a:xfrm>
            <a:off x="1190625" y="38100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High value • costly to obtain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EF2521-709E-45FE-BE75-7A983DB8EDB9}"/>
              </a:ext>
            </a:extLst>
          </p:cNvPr>
          <p:cNvSpPr>
            <a:spLocks noGrp="1"/>
          </p:cNvSpPr>
          <p:nvPr/>
        </p:nvSpPr>
        <p:spPr>
          <a:xfrm>
            <a:off x="6143625" y="1905000"/>
            <a:ext cx="4572000" cy="3095625"/>
          </a:xfrm>
          <a:prstGeom prst="roundRect">
            <a:avLst>
              <a:gd name="adj" fmla="val 2462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4E5235-AD6B-494A-938F-5A78F41312AF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Unlabeled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A06CDE-2864-47AC-85CD-E0375E693F44}"/>
              </a:ext>
            </a:extLst>
          </p:cNvPr>
          <p:cNvSpPr>
            <a:spLocks noGrp="1"/>
          </p:cNvSpPr>
          <p:nvPr/>
        </p:nvSpPr>
        <p:spPr>
          <a:xfrm>
            <a:off x="6477000" y="280987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○ ○ ○ ○ ○ ○ ○ ○ ○ 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900F9B-B5A4-40AC-8F8B-BA172E321C48}"/>
              </a:ext>
            </a:extLst>
          </p:cNvPr>
          <p:cNvSpPr>
            <a:spLocks noGrp="1"/>
          </p:cNvSpPr>
          <p:nvPr/>
        </p:nvSpPr>
        <p:spPr>
          <a:xfrm>
            <a:off x="6572250" y="38100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Abundant • weak direct guidance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E237534-EBBD-4C23-BB8E-9C75423B5B2B}"/>
              </a:ext>
            </a:extLst>
          </p:cNvPr>
          <p:cNvSpPr>
            <a:spLocks noGrp="1"/>
          </p:cNvSpPr>
          <p:nvPr/>
        </p:nvSpPr>
        <p:spPr>
          <a:xfrm>
            <a:off x="5391150" y="3429000"/>
            <a:ext cx="742950" cy="9525"/>
          </a:xfrm>
          <a:prstGeom prst="line">
            <a:avLst/>
          </a:prstGeom>
          <a:noFill/>
          <a:ln w="66675">
            <a:solidFill>
              <a:srgbClr val="F6C453"/>
            </a:solidFill>
          </a:ln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359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02A9680-3A39-442D-BF87-E0A0B0F92B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BDABF3-0156-457C-A3D6-F1CFB6A2C3FB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B9DB1B-B810-4956-B0F3-5EC8A9A6F75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Reinforcement learning: learn by acting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CBD4DB2-83F6-4D02-A960-0211E7D616F8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A0ED7-C289-4D76-BB26-B91DDD97A80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E7C09-965A-47A0-9A2A-20F53F7DCAD1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57B55F-8A86-454B-8414-709563F08C69}"/>
              </a:ext>
            </a:extLst>
          </p:cNvPr>
          <p:cNvSpPr>
            <a:spLocks noGrp="1"/>
          </p:cNvSpPr>
          <p:nvPr/>
        </p:nvSpPr>
        <p:spPr>
          <a:xfrm>
            <a:off x="1095375" y="2143125"/>
            <a:ext cx="2571750" cy="1809750"/>
          </a:xfrm>
          <a:prstGeom prst="roundRect">
            <a:avLst>
              <a:gd name="adj" fmla="val 4211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3795E-33BA-4BA7-8C39-295BF78ABB5A}"/>
              </a:ext>
            </a:extLst>
          </p:cNvPr>
          <p:cNvSpPr>
            <a:spLocks noGrp="1"/>
          </p:cNvSpPr>
          <p:nvPr/>
        </p:nvSpPr>
        <p:spPr>
          <a:xfrm>
            <a:off x="1428750" y="2619375"/>
            <a:ext cx="1905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333"/>
          </a:bodyPr>
          <a:lstStyle/>
          <a:p>
            <a:pPr algn="ctr">
              <a:defRPr sz="225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AGENT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5988A6-CF9D-4293-8297-C3A027B70263}"/>
              </a:ext>
            </a:extLst>
          </p:cNvPr>
          <p:cNvSpPr>
            <a:spLocks noGrp="1"/>
          </p:cNvSpPr>
          <p:nvPr/>
        </p:nvSpPr>
        <p:spPr>
          <a:xfrm>
            <a:off x="8382000" y="2143125"/>
            <a:ext cx="2571750" cy="1809750"/>
          </a:xfrm>
          <a:prstGeom prst="roundRect">
            <a:avLst>
              <a:gd name="adj" fmla="val 4211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249E9B-A481-488E-AB28-D8F1E28A3A23}"/>
              </a:ext>
            </a:extLst>
          </p:cNvPr>
          <p:cNvSpPr>
            <a:spLocks noGrp="1"/>
          </p:cNvSpPr>
          <p:nvPr/>
        </p:nvSpPr>
        <p:spPr>
          <a:xfrm>
            <a:off x="8667750" y="261937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21"/>
          </a:bodyPr>
          <a:lstStyle/>
          <a:p>
            <a:pPr algn="ctr">
              <a:defRPr sz="195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ENVIRONMENT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C6F6935-F351-472B-9104-2024962D7E63}"/>
              </a:ext>
            </a:extLst>
          </p:cNvPr>
          <p:cNvSpPr>
            <a:spLocks noGrp="1"/>
          </p:cNvSpPr>
          <p:nvPr/>
        </p:nvSpPr>
        <p:spPr>
          <a:xfrm>
            <a:off x="3667125" y="2524125"/>
            <a:ext cx="4714875" cy="9525"/>
          </a:xfrm>
          <a:prstGeom prst="line">
            <a:avLst/>
          </a:prstGeom>
          <a:noFill/>
          <a:ln w="47625">
            <a:solidFill>
              <a:srgbClr val="1F6FE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DFFC95-069E-4872-8052-65B029796270}"/>
              </a:ext>
            </a:extLst>
          </p:cNvPr>
          <p:cNvSpPr>
            <a:spLocks noGrp="1"/>
          </p:cNvSpPr>
          <p:nvPr/>
        </p:nvSpPr>
        <p:spPr>
          <a:xfrm>
            <a:off x="5048250" y="2095500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/>
          </a:bodyPr>
          <a:lstStyle/>
          <a:p>
            <a:pPr algn="ctr">
              <a:defRPr sz="17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action aₜ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EAF611D-3180-4D49-AB43-7D7695D5D11E}"/>
              </a:ext>
            </a:extLst>
          </p:cNvPr>
          <p:cNvSpPr>
            <a:spLocks noGrp="1"/>
          </p:cNvSpPr>
          <p:nvPr/>
        </p:nvSpPr>
        <p:spPr>
          <a:xfrm>
            <a:off x="3667125" y="3571875"/>
            <a:ext cx="4714875" cy="9525"/>
          </a:xfrm>
          <a:prstGeom prst="line">
            <a:avLst/>
          </a:prstGeom>
          <a:noFill/>
          <a:ln w="47625">
            <a:solidFill>
              <a:srgbClr val="F28C45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DE45E9-5102-489E-8A0A-7A750A1DB78A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state sₜ₊₁  +  reward rₜ₊₁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6FBC2-F97A-40F5-8425-BE8C57722903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8763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 algn="ctr">
              <a:def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Objective: maximize long-term cumulative reward—not merely the next reward.</a:t>
            </a:r>
          </a:p>
        </p:txBody>
      </p:sp>
    </p:spTree>
    <p:extLst>
      <p:ext uri="{BB962C8B-B14F-4D97-AF65-F5344CB8AC3E}">
        <p14:creationId xmlns:p14="http://schemas.microsoft.com/office/powerpoint/2010/main" val="1308286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224A9BD-2E40-419A-AEE2-8A0781BE1A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7635C-F60D-43D0-BAD0-5C79CE6418F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846C27-4FD6-4803-AE2F-10757EAD72B2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Choosing the paradigm starts with the feedback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FAB8B94-2777-444D-B6EB-9590CA18AAE9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8C435-9E1A-47B4-B11F-BE99FAEAD89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8F975E-BF00-46CC-A160-7F3EE16E2539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8B3E58-1F34-4D3E-9308-F5F141A5B1F7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69F3D9-C3D2-46B7-AE53-E834DC270DEA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051866-958A-4F6F-A4D0-E63BEA0BB753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Do we know y?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DE7FBA-F7E8-46B6-94CD-470B00D6BC10}"/>
              </a:ext>
            </a:extLst>
          </p:cNvPr>
          <p:cNvSpPr>
            <a:spLocks noGrp="1"/>
          </p:cNvSpPr>
          <p:nvPr/>
        </p:nvSpPr>
        <p:spPr>
          <a:xfrm>
            <a:off x="838200" y="3286125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Yes → supervised learning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Some y → semi-supervised learning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954C4D-1335-4655-B2E1-F4C2785D44DB}"/>
              </a:ext>
            </a:extLst>
          </p:cNvPr>
          <p:cNvSpPr>
            <a:spLocks noGrp="1"/>
          </p:cNvSpPr>
          <p:nvPr/>
        </p:nvSpPr>
        <p:spPr>
          <a:xfrm>
            <a:off x="4337050" y="1857375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3A99E0-AAA9-40DA-942C-87F67B86B419}"/>
              </a:ext>
            </a:extLst>
          </p:cNvPr>
          <p:cNvSpPr>
            <a:spLocks noGrp="1"/>
          </p:cNvSpPr>
          <p:nvPr/>
        </p:nvSpPr>
        <p:spPr>
          <a:xfrm>
            <a:off x="4565650" y="2095500"/>
            <a:ext cx="514350" cy="51435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76D6C2-4267-4176-8596-5CC257B381E6}"/>
              </a:ext>
            </a:extLst>
          </p:cNvPr>
          <p:cNvSpPr>
            <a:spLocks noGrp="1"/>
          </p:cNvSpPr>
          <p:nvPr/>
        </p:nvSpPr>
        <p:spPr>
          <a:xfrm>
            <a:off x="4565650" y="272415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Only x?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81786C-E6DF-4038-ABFD-342C3A97E08E}"/>
              </a:ext>
            </a:extLst>
          </p:cNvPr>
          <p:cNvSpPr>
            <a:spLocks noGrp="1"/>
          </p:cNvSpPr>
          <p:nvPr/>
        </p:nvSpPr>
        <p:spPr>
          <a:xfrm>
            <a:off x="4565650" y="3286125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Seek structure → unsupervised learning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44ACD1-5AB0-4077-BF00-2A5F7A808C0E}"/>
              </a:ext>
            </a:extLst>
          </p:cNvPr>
          <p:cNvSpPr>
            <a:spLocks noGrp="1"/>
          </p:cNvSpPr>
          <p:nvPr/>
        </p:nvSpPr>
        <p:spPr>
          <a:xfrm>
            <a:off x="8064500" y="1857375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B6D7F2-4F88-429C-AFE9-A69FCBCA6591}"/>
              </a:ext>
            </a:extLst>
          </p:cNvPr>
          <p:cNvSpPr>
            <a:spLocks noGrp="1"/>
          </p:cNvSpPr>
          <p:nvPr/>
        </p:nvSpPr>
        <p:spPr>
          <a:xfrm>
            <a:off x="8293100" y="2095500"/>
            <a:ext cx="514350" cy="5143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C6701D-A830-4474-944C-E6343D75CE95}"/>
              </a:ext>
            </a:extLst>
          </p:cNvPr>
          <p:cNvSpPr>
            <a:spLocks noGrp="1"/>
          </p:cNvSpPr>
          <p:nvPr/>
        </p:nvSpPr>
        <p:spPr>
          <a:xfrm>
            <a:off x="8293100" y="272415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Actions + rewards?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3A04C2-57FD-462A-A826-B418B283B947}"/>
              </a:ext>
            </a:extLst>
          </p:cNvPr>
          <p:cNvSpPr>
            <a:spLocks noGrp="1"/>
          </p:cNvSpPr>
          <p:nvPr/>
        </p:nvSpPr>
        <p:spPr>
          <a:xfrm>
            <a:off x="8293100" y="3286125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Sequential decisions →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689988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1FF9D9E-34A9-44E6-9C8A-99EDCE0CEA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FA48E-6169-4DB6-B43E-E19B0FE6475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F706F7-1DF8-40FC-B18E-8A8EC1F9E955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Case study: medical image triage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67A9763-B1A1-4C07-895F-967019BAF180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E2CFE2-BEA8-45F5-A3C4-24336E13A2B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80759-D688-4635-8E54-5DCAB879D48F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03C1C-DF70-4569-A3C9-303D264F0BF4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5EC768-10C2-44D7-80A5-E17AE0512CCF}"/>
              </a:ext>
            </a:extLst>
          </p:cNvPr>
          <p:cNvSpPr>
            <a:spLocks noGrp="1"/>
          </p:cNvSpPr>
          <p:nvPr/>
        </p:nvSpPr>
        <p:spPr>
          <a:xfrm>
            <a:off x="2381250" y="21431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61E6A2-BBE4-4E9A-AB54-7B52D90685F1}"/>
              </a:ext>
            </a:extLst>
          </p:cNvPr>
          <p:cNvSpPr>
            <a:spLocks noGrp="1"/>
          </p:cNvSpPr>
          <p:nvPr/>
        </p:nvSpPr>
        <p:spPr>
          <a:xfrm>
            <a:off x="3048000" y="1809750"/>
            <a:ext cx="2190750" cy="1190625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7FF9F-7D0A-42D9-AAAB-AD9AA2A0134F}"/>
              </a:ext>
            </a:extLst>
          </p:cNvPr>
          <p:cNvSpPr>
            <a:spLocks noGrp="1"/>
          </p:cNvSpPr>
          <p:nvPr/>
        </p:nvSpPr>
        <p:spPr>
          <a:xfrm>
            <a:off x="3286125" y="214312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302"/>
          </a:bodyPr>
          <a:lstStyle/>
          <a:p>
            <a:pPr algn="ctr">
              <a:def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Feature learner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939E60-39AB-4284-9A52-76B2520BAA63}"/>
              </a:ext>
            </a:extLst>
          </p:cNvPr>
          <p:cNvSpPr>
            <a:spLocks noGrp="1"/>
          </p:cNvSpPr>
          <p:nvPr/>
        </p:nvSpPr>
        <p:spPr>
          <a:xfrm>
            <a:off x="5238750" y="21431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51FB0A-CB05-4E8D-B062-09809EEBDC18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2190750" cy="1190625"/>
          </a:xfrm>
          <a:prstGeom prst="roundRect">
            <a:avLst>
              <a:gd name="adj" fmla="val 6400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7003F-63B7-4C48-A81D-E485637FCC90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Risk score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F512D2-FB7A-4136-808A-C30A94700928}"/>
              </a:ext>
            </a:extLst>
          </p:cNvPr>
          <p:cNvSpPr>
            <a:spLocks noGrp="1"/>
          </p:cNvSpPr>
          <p:nvPr/>
        </p:nvSpPr>
        <p:spPr>
          <a:xfrm>
            <a:off x="8096250" y="21431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5B2F-A8ED-45FC-8AE3-A1F7A2D73F26}"/>
              </a:ext>
            </a:extLst>
          </p:cNvPr>
          <p:cNvSpPr>
            <a:spLocks noGrp="1"/>
          </p:cNvSpPr>
          <p:nvPr/>
        </p:nvSpPr>
        <p:spPr>
          <a:xfrm>
            <a:off x="8763000" y="1809750"/>
            <a:ext cx="2190750" cy="1190625"/>
          </a:xfrm>
          <a:prstGeom prst="roundRect">
            <a:avLst>
              <a:gd name="adj" fmla="val 6400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C784BD-81CD-4F73-A41C-25E31C5EE709}"/>
              </a:ext>
            </a:extLst>
          </p:cNvPr>
          <p:cNvSpPr>
            <a:spLocks noGrp="1"/>
          </p:cNvSpPr>
          <p:nvPr/>
        </p:nvSpPr>
        <p:spPr>
          <a:xfrm>
            <a:off x="9001125" y="214312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619"/>
          </a:bodyPr>
          <a:lstStyle/>
          <a:p>
            <a:pPr algn="ctr">
              <a:def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Human review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0C9B7D-A9D6-495F-AFFB-BB8E20EDF9C1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9906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DAA78F-8A9C-4310-8B86-D259096BF822}"/>
              </a:ext>
            </a:extLst>
          </p:cNvPr>
          <p:cNvSpPr>
            <a:spLocks noGrp="1"/>
          </p:cNvSpPr>
          <p:nvPr/>
        </p:nvSpPr>
        <p:spPr>
          <a:xfrm>
            <a:off x="1476375" y="3905250"/>
            <a:ext cx="92392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33"/>
          </a:bodyPr>
          <a:lstStyle/>
          <a:p>
            <a:pPr algn="ctr">
              <a:defRPr sz="1875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T: prioritize cases  •  P: sensitivity at a fixed false-positive rate  •  E: expert-labeled images</a:t>
            </a:r>
          </a:p>
        </p:txBody>
      </p:sp>
    </p:spTree>
    <p:extLst>
      <p:ext uri="{BB962C8B-B14F-4D97-AF65-F5344CB8AC3E}">
        <p14:creationId xmlns:p14="http://schemas.microsoft.com/office/powerpoint/2010/main" val="1154807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241466-3C13-4F00-BC67-13C55ADBF9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88607-AFE7-4137-912B-C4E1960C3A03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F2230-6650-408D-AB19-4C706E447614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Case study: recommendation systems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27384D0-CFCD-4C49-B68B-8920CBD8422F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85C75A-4B94-49EC-A0EF-7562B8B41A6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B03C7-00F8-4C3D-B752-5AEAAE3F5572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423736-2A2C-479D-A4F1-4FF2FCA0AC0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A949D0-23B4-4A32-AFFE-B1F1494A5B79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B25214-F2DB-4F26-8BF0-A9C1E6D06CB6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00C8A-C991-4CEB-B605-724575639141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Clicks • ratings • purchases • skips • context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Most feedback is incomplete and behaviorally biased.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EE5E7B-749C-4787-B5F6-9D5E58D92873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Learning 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066CEB-04CF-447C-8D62-379A8487A14F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Rank items likely to be useful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Measure more than clicks: relevance, diversity, satisfaction, and harm.</a:t>
            </a:r>
          </a:p>
        </p:txBody>
      </p:sp>
    </p:spTree>
    <p:extLst>
      <p:ext uri="{BB962C8B-B14F-4D97-AF65-F5344CB8AC3E}">
        <p14:creationId xmlns:p14="http://schemas.microsoft.com/office/powerpoint/2010/main" val="1934686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7069E6B-D682-45E3-9F4B-EF76ED2992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CE768E-FF00-41FC-8641-3B3491B71F89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556209-767A-4ACE-B425-70F3993C9F53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Why machine learning projects fail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167A8C6-5CF9-424B-A67A-A15549646FB1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F826F-6226-4B90-89D2-FE4359D41D0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EB989-74E1-461C-A0E0-CDC3FA4A616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713018-03D8-4F19-9E1A-9874A2D4651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4FC768-728A-4601-B797-0E4B39F1ACD5}"/>
              </a:ext>
            </a:extLst>
          </p:cNvPr>
          <p:cNvSpPr>
            <a:spLocks noGrp="1"/>
          </p:cNvSpPr>
          <p:nvPr/>
        </p:nvSpPr>
        <p:spPr>
          <a:xfrm>
            <a:off x="838200" y="19145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68CE95-0CC3-4EDE-A0AC-CE737584346A}"/>
              </a:ext>
            </a:extLst>
          </p:cNvPr>
          <p:cNvSpPr>
            <a:spLocks noGrp="1"/>
          </p:cNvSpPr>
          <p:nvPr/>
        </p:nvSpPr>
        <p:spPr>
          <a:xfrm>
            <a:off x="838200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E98069-D0E0-4EC2-8FEA-501FD3C47678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Too little, unrepresentative, noisy, missing, or leaked.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FB6F6C-14AC-41B1-B6AD-E896F310FC90}"/>
              </a:ext>
            </a:extLst>
          </p:cNvPr>
          <p:cNvSpPr>
            <a:spLocks noGrp="1"/>
          </p:cNvSpPr>
          <p:nvPr/>
        </p:nvSpPr>
        <p:spPr>
          <a:xfrm>
            <a:off x="3405188" y="16764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55D0FF-4745-44E6-BF31-D32B5BC7599A}"/>
              </a:ext>
            </a:extLst>
          </p:cNvPr>
          <p:cNvSpPr>
            <a:spLocks noGrp="1"/>
          </p:cNvSpPr>
          <p:nvPr/>
        </p:nvSpPr>
        <p:spPr>
          <a:xfrm>
            <a:off x="3633788" y="19145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040E51-953D-4B6E-A307-FA9B6AE1FF56}"/>
              </a:ext>
            </a:extLst>
          </p:cNvPr>
          <p:cNvSpPr>
            <a:spLocks noGrp="1"/>
          </p:cNvSpPr>
          <p:nvPr/>
        </p:nvSpPr>
        <p:spPr>
          <a:xfrm>
            <a:off x="3633788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Objective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C5B022-548C-41DF-8EA3-7B014692F114}"/>
              </a:ext>
            </a:extLst>
          </p:cNvPr>
          <p:cNvSpPr>
            <a:spLocks noGrp="1"/>
          </p:cNvSpPr>
          <p:nvPr/>
        </p:nvSpPr>
        <p:spPr>
          <a:xfrm>
            <a:off x="3633788" y="31051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metric rewards the wrong behavior or ignores costs.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0CEF5B-CB09-4B84-92B1-5C5D5FEA7DAB}"/>
              </a:ext>
            </a:extLst>
          </p:cNvPr>
          <p:cNvSpPr>
            <a:spLocks noGrp="1"/>
          </p:cNvSpPr>
          <p:nvPr/>
        </p:nvSpPr>
        <p:spPr>
          <a:xfrm>
            <a:off x="6200775" y="16764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7DE0EA-5226-46F1-84A6-0EC11C45CEE5}"/>
              </a:ext>
            </a:extLst>
          </p:cNvPr>
          <p:cNvSpPr>
            <a:spLocks noGrp="1"/>
          </p:cNvSpPr>
          <p:nvPr/>
        </p:nvSpPr>
        <p:spPr>
          <a:xfrm>
            <a:off x="6429375" y="19145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71F5C5-6FAA-46C0-A0B8-C365A1BC8652}"/>
              </a:ext>
            </a:extLst>
          </p:cNvPr>
          <p:cNvSpPr>
            <a:spLocks noGrp="1"/>
          </p:cNvSpPr>
          <p:nvPr/>
        </p:nvSpPr>
        <p:spPr>
          <a:xfrm>
            <a:off x="6429375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498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Generalization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A7E032-AB82-4DBC-823E-95FA73AB15CE}"/>
              </a:ext>
            </a:extLst>
          </p:cNvPr>
          <p:cNvSpPr>
            <a:spLocks noGrp="1"/>
          </p:cNvSpPr>
          <p:nvPr/>
        </p:nvSpPr>
        <p:spPr>
          <a:xfrm>
            <a:off x="6429375" y="31051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Excellent training results do not transfer to new cases.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84856A-C2E1-4637-94A2-AEC3C6CCB5A5}"/>
              </a:ext>
            </a:extLst>
          </p:cNvPr>
          <p:cNvSpPr>
            <a:spLocks noGrp="1"/>
          </p:cNvSpPr>
          <p:nvPr/>
        </p:nvSpPr>
        <p:spPr>
          <a:xfrm>
            <a:off x="8996363" y="16764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62233A-62A1-4820-BAE2-845ECF8F028E}"/>
              </a:ext>
            </a:extLst>
          </p:cNvPr>
          <p:cNvSpPr>
            <a:spLocks noGrp="1"/>
          </p:cNvSpPr>
          <p:nvPr/>
        </p:nvSpPr>
        <p:spPr>
          <a:xfrm>
            <a:off x="9224963" y="19145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289727-A6DC-44BE-AD62-961B7F6F230D}"/>
              </a:ext>
            </a:extLst>
          </p:cNvPr>
          <p:cNvSpPr>
            <a:spLocks noGrp="1"/>
          </p:cNvSpPr>
          <p:nvPr/>
        </p:nvSpPr>
        <p:spPr>
          <a:xfrm>
            <a:off x="9224963" y="25431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Deployment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9260AB-DD94-4372-98FC-FAAA24C1E19A}"/>
              </a:ext>
            </a:extLst>
          </p:cNvPr>
          <p:cNvSpPr>
            <a:spLocks noGrp="1"/>
          </p:cNvSpPr>
          <p:nvPr/>
        </p:nvSpPr>
        <p:spPr>
          <a:xfrm>
            <a:off x="9224963" y="31051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Data drift, latency, fairness, privacy, and monitoring gaps.</a:t>
            </a:r>
          </a:p>
        </p:txBody>
      </p:sp>
    </p:spTree>
    <p:extLst>
      <p:ext uri="{BB962C8B-B14F-4D97-AF65-F5344CB8AC3E}">
        <p14:creationId xmlns:p14="http://schemas.microsoft.com/office/powerpoint/2010/main" val="151341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FF2C31-4EE3-4DDF-A11C-69F9C6F73C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4374A6-C7D6-4169-8997-48320F75A9CB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F24E4-46F1-4C66-B7BB-9EBC2C3A7597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ML is not automatically the right tool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86E4F7E-DF07-4DAC-B465-68C88ECA6B2F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F42A43-3862-4434-9A6C-8D6242D9714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3BF30-F688-4F41-A8F7-39273AD9982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327E4A-CFB8-4AE7-A0EA-63749212FD0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22C866-DDB8-4390-9210-80387CA0662A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FFF1F2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B6C448-B882-4DE3-8304-F04B25FBA815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E8B5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E8B57"/>
                </a:solidFill>
                <a:latin typeface="DejaVu Sans"/>
                <a:ea typeface="DejaVu Sans"/>
                <a:cs typeface="DejaVu Sans"/>
              </a:rPr>
              <a:t>Good fit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6C7EED-872F-4961-BA40-56B7C04CC271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Patterns are too complex to program directly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Relevant data and a measurable objective exist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environment is sufficiently stable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D2CAD3-E735-4F26-A1D4-BC60C109A25E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Poor fit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1D89A-2DBE-4CDE-B3CB-AB650302AE9E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 simple rule solves the task reliably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Errors are unacceptable and cannot be reviewed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No representative experience is available</a:t>
            </a:r>
          </a:p>
        </p:txBody>
      </p:sp>
    </p:spTree>
    <p:extLst>
      <p:ext uri="{BB962C8B-B14F-4D97-AF65-F5344CB8AC3E}">
        <p14:creationId xmlns:p14="http://schemas.microsoft.com/office/powerpoint/2010/main" val="497600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C34C795-A771-43D4-BB2E-48D4889F92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450FC8-1CE8-42EA-891D-A245FFAF960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16F1D5-A347-4159-A80A-B7F883C98D28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Machine learning within artificial intelligence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E875E14-36D9-488A-8693-5AA95F6062CC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4D264C-4638-4184-BB91-35C84A9C97D7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8CF596-53F3-4C67-9CDC-43E0791EA111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769811-2861-4910-9E66-9C27EEDAF1B9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5B7CE0-D136-4529-A65E-3EC1CECE8209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7FF933-B195-43C2-84A4-2D51D66CD630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Artificial intelligence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8A478-AD1D-4304-B9CD-409509F3400C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broader goal is to build systems that perform tasks associated with intelligent behaviour. AI includes search, planning, reasoning, knowledge representation and learning.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07C46-6151-4DB6-A35C-A66E4980BB71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Machine 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5DB0E-F1CD-4084-BBC7-F2874CAADED3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ML develops algorithms whose performance improves through data or interaction. Learning provides one route to intelligent behaviour.</a:t>
            </a:r>
          </a:p>
        </p:txBody>
      </p:sp>
    </p:spTree>
    <p:extLst>
      <p:ext uri="{BB962C8B-B14F-4D97-AF65-F5344CB8AC3E}">
        <p14:creationId xmlns:p14="http://schemas.microsoft.com/office/powerpoint/2010/main" val="1191967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AC3778-0F95-4E6E-9488-52FAE83E7B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7D6A2C-8A3B-4998-83AB-90630C6C18A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9E963-72A6-4D89-877C-57DF29B32F1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Traditional programming and machine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A46EF4-0B0F-4F24-A9C5-9105308C444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50594-93C8-4DBE-A7BC-1BA01E0E1E0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4F736-F482-44C5-8D6E-71705DA87E72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0F65CA-80A8-41AE-8662-8B91C04B15F0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4476750" cy="1381125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4B214-716C-4407-8B2D-22AEFA09D9AF}"/>
              </a:ext>
            </a:extLst>
          </p:cNvPr>
          <p:cNvSpPr>
            <a:spLocks noGrp="1"/>
          </p:cNvSpPr>
          <p:nvPr/>
        </p:nvSpPr>
        <p:spPr>
          <a:xfrm>
            <a:off x="1238250" y="2143125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/>
          </a:bodyPr>
          <a:lstStyle/>
          <a:p>
            <a:pPr algn="ctr">
              <a:defRPr sz="20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Rules +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D2999A-7D48-489C-9022-E6BD23EEC44F}"/>
              </a:ext>
            </a:extLst>
          </p:cNvPr>
          <p:cNvSpPr>
            <a:spLocks noGrp="1"/>
          </p:cNvSpPr>
          <p:nvPr/>
        </p:nvSpPr>
        <p:spPr>
          <a:xfrm>
            <a:off x="1238250" y="259080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/>
          </a:bodyPr>
          <a:lstStyle/>
          <a:p>
            <a:pPr algn="ctr">
              <a:def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produce answers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A11279-9EE4-4D87-A87E-AB3E0B5772BC}"/>
              </a:ext>
            </a:extLst>
          </p:cNvPr>
          <p:cNvSpPr>
            <a:spLocks noGrp="1"/>
          </p:cNvSpPr>
          <p:nvPr/>
        </p:nvSpPr>
        <p:spPr>
          <a:xfrm>
            <a:off x="6905625" y="1809750"/>
            <a:ext cx="4476750" cy="1381125"/>
          </a:xfrm>
          <a:prstGeom prst="roundRect">
            <a:avLst>
              <a:gd name="adj" fmla="val 5517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EA5552-1729-4B90-B59E-C1BB6F1FAA62}"/>
              </a:ext>
            </a:extLst>
          </p:cNvPr>
          <p:cNvSpPr>
            <a:spLocks noGrp="1"/>
          </p:cNvSpPr>
          <p:nvPr/>
        </p:nvSpPr>
        <p:spPr>
          <a:xfrm>
            <a:off x="7334250" y="2143125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/>
          </a:bodyPr>
          <a:lstStyle/>
          <a:p>
            <a:pPr algn="ctr">
              <a:defRPr sz="2025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Data + answers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777096-3F3D-4503-B57B-A3771CF2BA8C}"/>
              </a:ext>
            </a:extLst>
          </p:cNvPr>
          <p:cNvSpPr>
            <a:spLocks noGrp="1"/>
          </p:cNvSpPr>
          <p:nvPr/>
        </p:nvSpPr>
        <p:spPr>
          <a:xfrm>
            <a:off x="7334250" y="259080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/>
          </a:bodyPr>
          <a:lstStyle/>
          <a:p>
            <a:pPr algn="ctr">
              <a:def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produce a learned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8A591-124C-4FDC-A858-C0D2052EE8CF}"/>
              </a:ext>
            </a:extLst>
          </p:cNvPr>
          <p:cNvSpPr>
            <a:spLocks noGrp="1"/>
          </p:cNvSpPr>
          <p:nvPr/>
        </p:nvSpPr>
        <p:spPr>
          <a:xfrm>
            <a:off x="1428750" y="36195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Traditional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708D96-81B7-4AE1-A885-25EA63FA2F3C}"/>
              </a:ext>
            </a:extLst>
          </p:cNvPr>
          <p:cNvSpPr>
            <a:spLocks noGrp="1"/>
          </p:cNvSpPr>
          <p:nvPr/>
        </p:nvSpPr>
        <p:spPr>
          <a:xfrm>
            <a:off x="7381875" y="36195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52"/>
          </a:bodyPr>
          <a:lstStyle/>
          <a:p>
            <a:pPr algn="ctr">
              <a:def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Machine learning training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D86E95-9045-401E-8837-250BCF542C0B}"/>
              </a:ext>
            </a:extLst>
          </p:cNvPr>
          <p:cNvSpPr>
            <a:spLocks noGrp="1"/>
          </p:cNvSpPr>
          <p:nvPr/>
        </p:nvSpPr>
        <p:spPr>
          <a:xfrm>
            <a:off x="1714500" y="4619625"/>
            <a:ext cx="8763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7BB550-4B8C-4212-87DB-79B449D16000}"/>
              </a:ext>
            </a:extLst>
          </p:cNvPr>
          <p:cNvSpPr>
            <a:spLocks noGrp="1"/>
          </p:cNvSpPr>
          <p:nvPr/>
        </p:nvSpPr>
        <p:spPr>
          <a:xfrm>
            <a:off x="2143125" y="4810125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ctr">
              <a:def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Both approaches still require a precise task, valid inputs and a method for checking outputs.</a:t>
            </a:r>
          </a:p>
        </p:txBody>
      </p:sp>
    </p:spTree>
    <p:extLst>
      <p:ext uri="{BB962C8B-B14F-4D97-AF65-F5344CB8AC3E}">
        <p14:creationId xmlns:p14="http://schemas.microsoft.com/office/powerpoint/2010/main" val="452249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C280F8E-9B00-4989-98CF-01244DDB30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19B65-BEE3-43A7-8254-68BD0F00F2D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74C5E-5F9C-41ED-8AB1-69A24EFEFA1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Features, labels and examples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765888A-640A-4D58-8C3E-4AA875FDF904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8B3AB-2E00-46CA-B423-A8C109CC1A4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E2669-9C11-4EFF-A9C6-560FCE48C57C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6BFF55-E3B5-4C74-81A4-B9EC42080BC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AFA785-B603-4859-949C-FD826E78EDA9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E40AE7-AC53-4C4C-8F21-218D575A6C66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Feature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51AE03-FA0E-4D11-A98F-CA87A91FB7FC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 measured property used as input.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Examples: age, pixel intensity, word count.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055ADF-60FF-47AF-B03D-3A3D502EA33D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79F93C-D3F1-4D55-825D-EA4DEF46B95B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3DB97-68FD-4787-B729-91B10ABF01A6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Label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EFDA13-F9E6-4619-BC16-DA269148051A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desired output for supervised learning.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Examples: class name or price.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424081-FE3D-4CDB-9638-16829A834B0A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B24CB5-6EF5-4A3D-ADC6-FE1E36FEB805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C0B28B-A5A1-4D7E-A3A2-A2ABA2551BD9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Example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2AC971-0A06-4A04-86B4-485801F29C1B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One observation. It contains x and may also contain 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5B44B9-1415-4D55-A8FD-148E840D2FA0}"/>
              </a:ext>
            </a:extLst>
          </p:cNvPr>
          <p:cNvSpPr>
            <a:spLocks noGrp="1"/>
          </p:cNvSpPr>
          <p:nvPr/>
        </p:nvSpPr>
        <p:spPr>
          <a:xfrm>
            <a:off x="1190625" y="5286375"/>
            <a:ext cx="9810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6"/>
          </a:bodyPr>
          <a:lstStyle/>
          <a:p>
            <a:pPr algn="ctr">
              <a:defRPr sz="17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Good features preserve information relevant to the task while avoiding information that would be unavailable at prediction time.</a:t>
            </a:r>
          </a:p>
        </p:txBody>
      </p:sp>
    </p:spTree>
    <p:extLst>
      <p:ext uri="{BB962C8B-B14F-4D97-AF65-F5344CB8AC3E}">
        <p14:creationId xmlns:p14="http://schemas.microsoft.com/office/powerpoint/2010/main" val="538795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7ACA297-45EB-4F33-877F-78EB5ACB74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8A9724-AE56-4381-A6EF-60392E7F3223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3516C9-EDDC-4C19-AE6D-285AB03096A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The machine learning workflow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14102F9-09C0-4721-A6DA-6118EA54ADBA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E6031-8DA1-4F11-B8CD-B5B4D7F5DC8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067B3C-487F-4F35-9CCD-C90B2B4D5DF8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BB2BFB-5354-49F8-8E35-19B1747F17A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47D1AF-E8C6-4B40-9F79-BB9FDB36DFA4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3FE65-9CEC-4347-929F-659C1C48679A}"/>
              </a:ext>
            </a:extLst>
          </p:cNvPr>
          <p:cNvSpPr>
            <a:spLocks noGrp="1"/>
          </p:cNvSpPr>
          <p:nvPr/>
        </p:nvSpPr>
        <p:spPr>
          <a:xfrm>
            <a:off x="838200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36CAF-402A-4B6F-A239-AED5B2312CA5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Specify T, P and E. Decide whether ML is justified.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825FA3-6F70-4D38-B869-55D2038AE956}"/>
              </a:ext>
            </a:extLst>
          </p:cNvPr>
          <p:cNvSpPr>
            <a:spLocks noGrp="1"/>
          </p:cNvSpPr>
          <p:nvPr/>
        </p:nvSpPr>
        <p:spPr>
          <a:xfrm>
            <a:off x="3405188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8845F1-558F-4BC8-A582-7C9E60AC17E6}"/>
              </a:ext>
            </a:extLst>
          </p:cNvPr>
          <p:cNvSpPr>
            <a:spLocks noGrp="1"/>
          </p:cNvSpPr>
          <p:nvPr/>
        </p:nvSpPr>
        <p:spPr>
          <a:xfrm>
            <a:off x="3633788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48F7A9-9B02-439C-8D09-3D9E14077F0D}"/>
              </a:ext>
            </a:extLst>
          </p:cNvPr>
          <p:cNvSpPr>
            <a:spLocks noGrp="1"/>
          </p:cNvSpPr>
          <p:nvPr/>
        </p:nvSpPr>
        <p:spPr>
          <a:xfrm>
            <a:off x="3633788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1F0B57-27DF-4DF3-95C6-0581DD8DF59C}"/>
              </a:ext>
            </a:extLst>
          </p:cNvPr>
          <p:cNvSpPr>
            <a:spLocks noGrp="1"/>
          </p:cNvSpPr>
          <p:nvPr/>
        </p:nvSpPr>
        <p:spPr>
          <a:xfrm>
            <a:off x="3633788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Collect, clean and represent examples. Check sampling and labels.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5EDEEF-0AB0-4F58-9D13-F0A1D419AF11}"/>
              </a:ext>
            </a:extLst>
          </p:cNvPr>
          <p:cNvSpPr>
            <a:spLocks noGrp="1"/>
          </p:cNvSpPr>
          <p:nvPr/>
        </p:nvSpPr>
        <p:spPr>
          <a:xfrm>
            <a:off x="6200775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0C885F-D249-4D36-8E1F-A444D9495CE2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70D962-09F5-40A4-818F-F9780C1A3B3E}"/>
              </a:ext>
            </a:extLst>
          </p:cNvPr>
          <p:cNvSpPr>
            <a:spLocks noGrp="1"/>
          </p:cNvSpPr>
          <p:nvPr/>
        </p:nvSpPr>
        <p:spPr>
          <a:xfrm>
            <a:off x="6429375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Learning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200B6D-1AFF-453F-8912-8AF131ED36FD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Fit candidate models and choose settings using validation evidence.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B382A67-1AD2-4D27-B1DA-9A654F9A2424}"/>
              </a:ext>
            </a:extLst>
          </p:cNvPr>
          <p:cNvSpPr>
            <a:spLocks noGrp="1"/>
          </p:cNvSpPr>
          <p:nvPr/>
        </p:nvSpPr>
        <p:spPr>
          <a:xfrm>
            <a:off x="8996363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9BC748-CF23-4AC7-AF77-33D36CC016B1}"/>
              </a:ext>
            </a:extLst>
          </p:cNvPr>
          <p:cNvSpPr>
            <a:spLocks noGrp="1"/>
          </p:cNvSpPr>
          <p:nvPr/>
        </p:nvSpPr>
        <p:spPr>
          <a:xfrm>
            <a:off x="9224963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BE8487-8D9F-4DE5-B294-721DA624DFEE}"/>
              </a:ext>
            </a:extLst>
          </p:cNvPr>
          <p:cNvSpPr>
            <a:spLocks noGrp="1"/>
          </p:cNvSpPr>
          <p:nvPr/>
        </p:nvSpPr>
        <p:spPr>
          <a:xfrm>
            <a:off x="9224963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D20DEC-A14F-4012-A433-C72B31F64D3A}"/>
              </a:ext>
            </a:extLst>
          </p:cNvPr>
          <p:cNvSpPr>
            <a:spLocks noGrp="1"/>
          </p:cNvSpPr>
          <p:nvPr/>
        </p:nvSpPr>
        <p:spPr>
          <a:xfrm>
            <a:off x="9224963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Test once, deploy carefully and monitor new data and errors.</a:t>
            </a:r>
          </a:p>
        </p:txBody>
      </p:sp>
    </p:spTree>
    <p:extLst>
      <p:ext uri="{BB962C8B-B14F-4D97-AF65-F5344CB8AC3E}">
        <p14:creationId xmlns:p14="http://schemas.microsoft.com/office/powerpoint/2010/main" val="1695360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697DDC-0B5C-44F4-8E0B-5DA4919A31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0880C6-BC1B-4DDE-83AE-3A494857FAD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AAA78-AB41-4203-9B16-4F2BE83A0AAD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Training, validation and test data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6163911-2B3B-4397-BBD5-DCA6CAA34397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7ECF2B-C709-4F0F-A65F-90CBDE72AC5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386B5-6BDC-43F5-B086-F6242E9178CC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75D4D8-691B-4842-A2F2-D6425E907DBA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10382250" cy="904875"/>
          </a:xfrm>
          <a:prstGeom prst="roundRect">
            <a:avLst>
              <a:gd name="adj" fmla="val 8421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A626E8-CD7F-4EA2-B61F-6C4B4FB43FE0}"/>
              </a:ext>
            </a:extLst>
          </p:cNvPr>
          <p:cNvSpPr>
            <a:spLocks noGrp="1"/>
          </p:cNvSpPr>
          <p:nvPr/>
        </p:nvSpPr>
        <p:spPr>
          <a:xfrm>
            <a:off x="1381125" y="2171700"/>
            <a:ext cx="9429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Available labeled examples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990F00-511E-461D-8230-4AEEE77D43DD}"/>
              </a:ext>
            </a:extLst>
          </p:cNvPr>
          <p:cNvSpPr>
            <a:spLocks noGrp="1"/>
          </p:cNvSpPr>
          <p:nvPr/>
        </p:nvSpPr>
        <p:spPr>
          <a:xfrm>
            <a:off x="904875" y="3143250"/>
            <a:ext cx="5715000" cy="1381125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B8D1D-AC2C-4E59-991B-9318714B0193}"/>
              </a:ext>
            </a:extLst>
          </p:cNvPr>
          <p:cNvSpPr>
            <a:spLocks noGrp="1"/>
          </p:cNvSpPr>
          <p:nvPr/>
        </p:nvSpPr>
        <p:spPr>
          <a:xfrm>
            <a:off x="1238250" y="3381375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/>
          </a:bodyPr>
          <a:lstStyle/>
          <a:p>
            <a:pPr algn="ctr">
              <a:defRPr sz="195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Training 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DF0A4A-CC13-4C91-A0EA-CEAFC1ADE57A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Estimate model parameters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735C46-55D9-46CE-8192-2D23D8BE29FD}"/>
              </a:ext>
            </a:extLst>
          </p:cNvPr>
          <p:cNvSpPr>
            <a:spLocks noGrp="1"/>
          </p:cNvSpPr>
          <p:nvPr/>
        </p:nvSpPr>
        <p:spPr>
          <a:xfrm>
            <a:off x="6810375" y="3143250"/>
            <a:ext cx="2143125" cy="1381125"/>
          </a:xfrm>
          <a:prstGeom prst="roundRect">
            <a:avLst>
              <a:gd name="adj" fmla="val 5517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BA83CA-00EC-472E-B143-81B93C3E7AD2}"/>
              </a:ext>
            </a:extLst>
          </p:cNvPr>
          <p:cNvSpPr>
            <a:spLocks noGrp="1"/>
          </p:cNvSpPr>
          <p:nvPr/>
        </p:nvSpPr>
        <p:spPr>
          <a:xfrm>
            <a:off x="7000875" y="338137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ctr">
              <a:def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A1AA71-EFB6-4E06-AD06-B7D8C7974362}"/>
              </a:ext>
            </a:extLst>
          </p:cNvPr>
          <p:cNvSpPr>
            <a:spLocks noGrp="1"/>
          </p:cNvSpPr>
          <p:nvPr/>
        </p:nvSpPr>
        <p:spPr>
          <a:xfrm>
            <a:off x="7000875" y="3905250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Choose settings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DD8B2C-F90E-4720-BE80-6343EE0411FF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2143125" cy="1381125"/>
          </a:xfrm>
          <a:prstGeom prst="roundRect">
            <a:avLst>
              <a:gd name="adj" fmla="val 5517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980C74-6F9D-44FA-8CAD-41449B08900A}"/>
              </a:ext>
            </a:extLst>
          </p:cNvPr>
          <p:cNvSpPr>
            <a:spLocks noGrp="1"/>
          </p:cNvSpPr>
          <p:nvPr/>
        </p:nvSpPr>
        <p:spPr>
          <a:xfrm>
            <a:off x="9334500" y="3381375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ctr">
              <a:def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CC5283-3A87-470F-A12A-7B6F5DBA25D1}"/>
              </a:ext>
            </a:extLst>
          </p:cNvPr>
          <p:cNvSpPr>
            <a:spLocks noGrp="1"/>
          </p:cNvSpPr>
          <p:nvPr/>
        </p:nvSpPr>
        <p:spPr>
          <a:xfrm>
            <a:off x="9334500" y="3905250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Final estimate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F3B47-EB5D-4BD9-8D20-246520E7067E}"/>
              </a:ext>
            </a:extLst>
          </p:cNvPr>
          <p:cNvSpPr>
            <a:spLocks noGrp="1"/>
          </p:cNvSpPr>
          <p:nvPr/>
        </p:nvSpPr>
        <p:spPr>
          <a:xfrm>
            <a:off x="2333625" y="509587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133"/>
          </a:bodyPr>
          <a:lstStyle/>
          <a:p>
            <a:pPr algn="ctr">
              <a:defRPr sz="1725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Repeatedly using the test set turns it into part of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803217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03834A0-9BB9-4752-9482-4458478ADB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57DD59-F312-4638-A214-5190D99033AA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F8523-8444-4C74-B407-CB4B4C1BAADD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Worked example: spam filtering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F9FA26A-0236-4F17-A2DB-6454E3D5C50C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A65768-3D50-4DE7-86A5-143D663ED8E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1B7D7-8B3A-4F9F-B5C9-703F1A42F806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051860-C92F-44C5-BE96-E34EC846BA9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517900" cy="3190875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2915C-4671-4164-86AC-A7B504E0BE46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C2E1CF-8E65-4D15-B7B6-945F056430DF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330BA-CB45-450E-87BB-AC2BE8139C08}"/>
              </a:ext>
            </a:extLst>
          </p:cNvPr>
          <p:cNvSpPr>
            <a:spLocks noGrp="1"/>
          </p:cNvSpPr>
          <p:nvPr/>
        </p:nvSpPr>
        <p:spPr>
          <a:xfrm>
            <a:off x="838200" y="3190875"/>
            <a:ext cx="306070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Classify each incoming email as spam or legitimate.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26F01A-D148-461F-B5E8-D0FE0D9F08D5}"/>
              </a:ext>
            </a:extLst>
          </p:cNvPr>
          <p:cNvSpPr>
            <a:spLocks noGrp="1"/>
          </p:cNvSpPr>
          <p:nvPr/>
        </p:nvSpPr>
        <p:spPr>
          <a:xfrm>
            <a:off x="4337050" y="1762125"/>
            <a:ext cx="3517900" cy="3190875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E66B15-2DE3-423B-A31C-8180D13B0EDE}"/>
              </a:ext>
            </a:extLst>
          </p:cNvPr>
          <p:cNvSpPr>
            <a:spLocks noGrp="1"/>
          </p:cNvSpPr>
          <p:nvPr/>
        </p:nvSpPr>
        <p:spPr>
          <a:xfrm>
            <a:off x="4565650" y="2000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1E37CE-E5E6-44AB-BD5B-943E1C15D6E1}"/>
              </a:ext>
            </a:extLst>
          </p:cNvPr>
          <p:cNvSpPr>
            <a:spLocks noGrp="1"/>
          </p:cNvSpPr>
          <p:nvPr/>
        </p:nvSpPr>
        <p:spPr>
          <a:xfrm>
            <a:off x="4565650" y="2628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1A30B-7DE4-4311-A18E-A580BBDBD2E9}"/>
              </a:ext>
            </a:extLst>
          </p:cNvPr>
          <p:cNvSpPr>
            <a:spLocks noGrp="1"/>
          </p:cNvSpPr>
          <p:nvPr/>
        </p:nvSpPr>
        <p:spPr>
          <a:xfrm>
            <a:off x="4565650" y="3190875"/>
            <a:ext cx="306070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Measure precision and recall because false alarms and missed spam have different costs.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4B54BB-B94A-486A-A46E-137FD79EC8C9}"/>
              </a:ext>
            </a:extLst>
          </p:cNvPr>
          <p:cNvSpPr>
            <a:spLocks noGrp="1"/>
          </p:cNvSpPr>
          <p:nvPr/>
        </p:nvSpPr>
        <p:spPr>
          <a:xfrm>
            <a:off x="8064500" y="1762125"/>
            <a:ext cx="3517900" cy="3190875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39C6F8-FEF5-46CF-B93B-29C1E2521C0F}"/>
              </a:ext>
            </a:extLst>
          </p:cNvPr>
          <p:cNvSpPr>
            <a:spLocks noGrp="1"/>
          </p:cNvSpPr>
          <p:nvPr/>
        </p:nvSpPr>
        <p:spPr>
          <a:xfrm>
            <a:off x="8293100" y="2000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3A1459-ECAD-4F0E-BE03-5E8229044D84}"/>
              </a:ext>
            </a:extLst>
          </p:cNvPr>
          <p:cNvSpPr>
            <a:spLocks noGrp="1"/>
          </p:cNvSpPr>
          <p:nvPr/>
        </p:nvSpPr>
        <p:spPr>
          <a:xfrm>
            <a:off x="8293100" y="2628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Experience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CABFF8-7903-4E9A-B166-9646D49CCF83}"/>
              </a:ext>
            </a:extLst>
          </p:cNvPr>
          <p:cNvSpPr>
            <a:spLocks noGrp="1"/>
          </p:cNvSpPr>
          <p:nvPr/>
        </p:nvSpPr>
        <p:spPr>
          <a:xfrm>
            <a:off x="8293100" y="3190875"/>
            <a:ext cx="306070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Use emails reviewed by users or moderators, with care for changing attack patterns.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296762-9EE2-4BCE-AF50-04C3B4F40D81}"/>
              </a:ext>
            </a:extLst>
          </p:cNvPr>
          <p:cNvSpPr>
            <a:spLocks noGrp="1"/>
          </p:cNvSpPr>
          <p:nvPr/>
        </p:nvSpPr>
        <p:spPr>
          <a:xfrm>
            <a:off x="2000250" y="5286375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139"/>
          </a:bodyPr>
          <a:lstStyle/>
          <a:p>
            <a:pPr algn="ctr">
              <a:def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Paradigm: supervised classification. An online update may help when spam strategies change.</a:t>
            </a:r>
          </a:p>
        </p:txBody>
      </p:sp>
    </p:spTree>
    <p:extLst>
      <p:ext uri="{BB962C8B-B14F-4D97-AF65-F5344CB8AC3E}">
        <p14:creationId xmlns:p14="http://schemas.microsoft.com/office/powerpoint/2010/main" val="729880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3A9C2D-BE70-46BC-AA96-D60763E909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3360E-11A9-449C-B2A7-55B489F965EE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8C52BD-FDCB-4E2D-B937-DE7E8EC4845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Class activity: identify the paradigm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5CC327E-61F9-43A4-A271-0265CEE7456F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A7E447-2E0F-4C11-AE4D-E9B1EEFB3C0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AE0BC-4308-4E23-9F9B-CE2BB3079785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B3A2BE-3751-41CE-9811-7A57B1B1E5F9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D2BB7D-0C3D-46A5-AA2E-7671F303D3BE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E1D91-7312-4887-A0F4-829D06A76553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Scenario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1B560D-922B-40DE-9168-C7AA180A3E70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 university groups students by similar course-selection patterns without predefined group names.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Question: Which learning paradigm fits?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3B950-EFFF-45AC-B24D-8B9B1CDA55E8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Scenario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6FEBF6-D9FF-424D-A1C8-C91B39362F8A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 robot tries actions, receives penalties for collisions and rewards for reaching a goal.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Question: Which learning paradigm fits?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229A49-6E6C-4E9C-BC35-0CAE9D66719F}"/>
              </a:ext>
            </a:extLst>
          </p:cNvPr>
          <p:cNvSpPr>
            <a:spLocks noGrp="1"/>
          </p:cNvSpPr>
          <p:nvPr/>
        </p:nvSpPr>
        <p:spPr>
          <a:xfrm>
            <a:off x="1714500" y="5095875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028"/>
          </a:bodyPr>
          <a:lstStyle/>
          <a:p>
            <a:pPr algn="ctr">
              <a:def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Discuss for two minutes. Answers: A is unsupervised learning. B is reinforcement learning.</a:t>
            </a:r>
          </a:p>
        </p:txBody>
      </p:sp>
    </p:spTree>
    <p:extLst>
      <p:ext uri="{BB962C8B-B14F-4D97-AF65-F5344CB8AC3E}">
        <p14:creationId xmlns:p14="http://schemas.microsoft.com/office/powerpoint/2010/main" val="3379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A89E26D-DA6A-4412-A71F-980B589A7D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5E4B2-1C33-4EC5-AA1A-896B6424653B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02A2B1-E3FC-4FB9-BDA7-05DBCC8FED9A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Questions before approving an ML project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1804580-2AC9-48BA-A9BA-CC6DBD3FC53A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2FE73A-88B2-4F37-9643-2F0AF2E84CC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E6E73-C35D-44C3-96B0-E81CCD34385C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EFFF93-DC66-4480-8C0A-7E63CB7E87F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D7009D-BFD3-4B7D-9100-949539C47113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092620-38A3-41DA-95F8-432C9F87B272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E2146-B01B-451A-9EE3-FE04888A6BDC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Will training experience represent the cases encountered later?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AFF255-D83C-4476-8D19-3026EF21DD4C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9F1721-0C64-40E8-84DC-42C53CBAE81E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2B451-3A48-484F-8D9C-FECA892E4368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Consequences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91DF68-E34E-491D-B868-BA9AF14B27BA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Who bears the cost when the system makes an error?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422C67-C195-47E4-BD30-3DCA730DB508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DA7C6D-43A1-437B-9D6D-5358E022AD68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3B9486-1194-4F6B-85E5-329751DD5F69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Maintenance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12E941-2EC5-466C-8E3D-CCCE5DAF1304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How will the team detect drift and decide when to retrain?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396CDF-4E31-4CD6-881C-FF455C24BA22}"/>
              </a:ext>
            </a:extLst>
          </p:cNvPr>
          <p:cNvSpPr>
            <a:spLocks noGrp="1"/>
          </p:cNvSpPr>
          <p:nvPr/>
        </p:nvSpPr>
        <p:spPr>
          <a:xfrm>
            <a:off x="1905000" y="5286375"/>
            <a:ext cx="838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333"/>
          </a:bodyPr>
          <a:lstStyle/>
          <a:p>
            <a:pPr algn="ctr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technically accurate model can still fail when the surrounding process is poorly designed.</a:t>
            </a:r>
          </a:p>
        </p:txBody>
      </p:sp>
    </p:spTree>
    <p:extLst>
      <p:ext uri="{BB962C8B-B14F-4D97-AF65-F5344CB8AC3E}">
        <p14:creationId xmlns:p14="http://schemas.microsoft.com/office/powerpoint/2010/main" val="497210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3107B5C-E0C4-4340-B12F-4C3D6D369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E69E55-E152-4BC6-B979-7D4DCEBDAF2C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344ACD-2C3E-456F-890C-48FC0AD0A759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From programmed rules to learned patterns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781897-ED75-4356-9C2E-9471B9274EEE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C04C25-41BC-40D9-9DD6-3CE7A726D3F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C7A7B9-EC87-49CE-BAAF-A9D28B2ECC3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4A7063-C8E9-42A4-941F-ED9794A29FE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AC8046-2C62-45AF-BBBF-80A75CDEED75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2A931-6519-49B5-8C63-B5C5FB6B3910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Rule-based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A10E49-B97D-4616-936F-91CFF1569C3D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Experts write explicit conditions. Behaviour changes only when someone changes the rules.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3C3486-5273-4EFE-9580-11644E1D3E27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F2A548-343C-40AB-976F-0F04AFA31478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625F36-96F4-4FB8-B5F8-EE712DF3886C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Statistical learning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53EC88-61D7-48BF-926A-7AE6092A021C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Models estimate patterns and uncertainty from samples.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EA2209-DF56-4E47-8C6E-3E89206E3B96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115200-7E55-44DE-AAC8-DA054AF6F8F3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AFD69E-D544-4611-9FFE-74E492308230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Modern ML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0E004C-4F69-4B22-A87D-61B5A8C288CE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Large datasets and computing power support complex representations, including deep networks.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821196-6074-4274-B39D-517D858E3E6B}"/>
              </a:ext>
            </a:extLst>
          </p:cNvPr>
          <p:cNvSpPr>
            <a:spLocks noGrp="1"/>
          </p:cNvSpPr>
          <p:nvPr/>
        </p:nvSpPr>
        <p:spPr>
          <a:xfrm>
            <a:off x="1428750" y="5286375"/>
            <a:ext cx="9334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290"/>
          </a:bodyPr>
          <a:lstStyle/>
          <a:p>
            <a:pPr algn="ctr">
              <a:def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The central idea remains unchanged: experience should improve measured performance on a task.</a:t>
            </a:r>
          </a:p>
        </p:txBody>
      </p:sp>
    </p:spTree>
    <p:extLst>
      <p:ext uri="{BB962C8B-B14F-4D97-AF65-F5344CB8AC3E}">
        <p14:creationId xmlns:p14="http://schemas.microsoft.com/office/powerpoint/2010/main" val="1787575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4C7557-E187-4505-9EBD-225E7887F1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0AD448-F095-46C5-8D6D-EBDF3D361111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DB112-8C7C-45FE-B81D-6C38371A4564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Structured and unstructured inputs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A4BF2B6-0547-4A0E-9D8C-3FC33567C1F1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01E2A-1EF9-451A-A096-92263981016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4AAAF0-D773-42E3-AF89-BB73AB392F8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F61F31-8BBF-4918-AB15-68DCF553633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AE7073-A868-4B0D-8001-A48B41B1B274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43324D-EE57-487E-A4C6-1D570ACDD321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Structured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39FBA-03BF-4B49-B6CE-465E91D69015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Values follow a fixed schema.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Examples include database rows, sensor measurements and transaction records.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Features usually have explicit names.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76D83-88B2-425F-B834-91B1CE53127A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Unstructured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ACEF96-2C8C-437E-830C-950E88C33654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raw form has no simple table structure.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Examples include images, speech and free text.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Representation learning often constructs useful features.</a:t>
            </a:r>
          </a:p>
        </p:txBody>
      </p:sp>
    </p:spTree>
    <p:extLst>
      <p:ext uri="{BB962C8B-B14F-4D97-AF65-F5344CB8AC3E}">
        <p14:creationId xmlns:p14="http://schemas.microsoft.com/office/powerpoint/2010/main" val="693986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5022455-CD95-4C9D-9C13-47FAEC557E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19520D-869F-44DD-B307-4DC33011F88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CBB65-35A0-4422-AB4B-0D875C1982A3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model learns correlations, not intentions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B777782-42F7-4DDD-9088-2008CDF39309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0181E-2C04-4007-85CF-7B505A6259B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4CBF8B-694F-42A5-A6AD-18DFFA7C9511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2268F5-D12E-42FE-9E0E-C247331173A2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114300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F78351-4F30-484D-8C0A-00F95A1CD6D3}"/>
              </a:ext>
            </a:extLst>
          </p:cNvPr>
          <p:cNvSpPr>
            <a:spLocks noGrp="1"/>
          </p:cNvSpPr>
          <p:nvPr/>
        </p:nvSpPr>
        <p:spPr>
          <a:xfrm>
            <a:off x="1666875" y="2095500"/>
            <a:ext cx="8858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850"/>
          </a:bodyPr>
          <a:lstStyle/>
          <a:p>
            <a:pPr algn="ctr">
              <a:defRPr sz="2325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A predictive association does not by itself establish cause and effect.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77F5ED-636C-4FBA-905D-57CBED6B96D7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35179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4C1525-41A7-489D-AAC4-28E24CF330B6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0D2711-43CF-4E73-8452-8BCA655234D6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Prediction question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5DA73B-9338-49A0-ADD6-F26660A56B34}"/>
              </a:ext>
            </a:extLst>
          </p:cNvPr>
          <p:cNvSpPr>
            <a:spLocks noGrp="1"/>
          </p:cNvSpPr>
          <p:nvPr/>
        </p:nvSpPr>
        <p:spPr>
          <a:xfrm>
            <a:off x="838200" y="5095875"/>
            <a:ext cx="30607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dirty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Will this customer stop using the service?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0D545A-CA6A-414B-9A76-81D8BAB79999}"/>
              </a:ext>
            </a:extLst>
          </p:cNvPr>
          <p:cNvSpPr>
            <a:spLocks noGrp="1"/>
          </p:cNvSpPr>
          <p:nvPr/>
        </p:nvSpPr>
        <p:spPr>
          <a:xfrm>
            <a:off x="4337050" y="3667125"/>
            <a:ext cx="35179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1CA36E5-87C0-4191-99E6-CC5C38A0A86E}"/>
              </a:ext>
            </a:extLst>
          </p:cNvPr>
          <p:cNvSpPr>
            <a:spLocks noGrp="1"/>
          </p:cNvSpPr>
          <p:nvPr/>
        </p:nvSpPr>
        <p:spPr>
          <a:xfrm>
            <a:off x="4565650" y="3905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09A46E-FE42-4493-A67B-035B6EB6FFEB}"/>
              </a:ext>
            </a:extLst>
          </p:cNvPr>
          <p:cNvSpPr>
            <a:spLocks noGrp="1"/>
          </p:cNvSpPr>
          <p:nvPr/>
        </p:nvSpPr>
        <p:spPr>
          <a:xfrm>
            <a:off x="4565650" y="4533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Causal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05E8C2-9A74-49B6-A991-994CE919D086}"/>
              </a:ext>
            </a:extLst>
          </p:cNvPr>
          <p:cNvSpPr>
            <a:spLocks noGrp="1"/>
          </p:cNvSpPr>
          <p:nvPr/>
        </p:nvSpPr>
        <p:spPr>
          <a:xfrm>
            <a:off x="4565650" y="5095875"/>
            <a:ext cx="30607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dirty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Will a particular intervention prevent the customer from leaving?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C5E8DF-682B-48AB-BFCA-375B581B9AFF}"/>
              </a:ext>
            </a:extLst>
          </p:cNvPr>
          <p:cNvSpPr>
            <a:spLocks noGrp="1"/>
          </p:cNvSpPr>
          <p:nvPr/>
        </p:nvSpPr>
        <p:spPr>
          <a:xfrm>
            <a:off x="8064500" y="3667125"/>
            <a:ext cx="35179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3A089A-B7DF-4F8C-AFC6-066F48A52DFD}"/>
              </a:ext>
            </a:extLst>
          </p:cNvPr>
          <p:cNvSpPr>
            <a:spLocks noGrp="1"/>
          </p:cNvSpPr>
          <p:nvPr/>
        </p:nvSpPr>
        <p:spPr>
          <a:xfrm>
            <a:off x="8293100" y="3905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914D9-CFCF-40C6-A5ED-36FA448D9A6E}"/>
              </a:ext>
            </a:extLst>
          </p:cNvPr>
          <p:cNvSpPr>
            <a:spLocks noGrp="1"/>
          </p:cNvSpPr>
          <p:nvPr/>
        </p:nvSpPr>
        <p:spPr>
          <a:xfrm>
            <a:off x="8293100" y="4533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Why it matters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2964A5-39C3-45BC-8890-5049BBC4B03A}"/>
              </a:ext>
            </a:extLst>
          </p:cNvPr>
          <p:cNvSpPr>
            <a:spLocks noGrp="1"/>
          </p:cNvSpPr>
          <p:nvPr/>
        </p:nvSpPr>
        <p:spPr>
          <a:xfrm>
            <a:off x="8293100" y="5095875"/>
            <a:ext cx="30607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000" b="0" dirty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second question requires stronger assumptions or experimental evidence.</a:t>
            </a:r>
          </a:p>
        </p:txBody>
      </p:sp>
    </p:spTree>
    <p:extLst>
      <p:ext uri="{BB962C8B-B14F-4D97-AF65-F5344CB8AC3E}">
        <p14:creationId xmlns:p14="http://schemas.microsoft.com/office/powerpoint/2010/main" val="1032257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E1C7AB7-238B-49B8-908C-F38B3F5059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E18E59-7200-4D8D-BFDC-01BBE86CEEF1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3AF4C2-8EA5-494C-803B-330332476DB8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Common misconceptions about machine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4E6B06D-76B9-42B3-92EE-BAF41BB58BD7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0FEE9-F94F-41C0-B7FD-DA65CD569CA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E988E-C0DB-4AE9-8A55-019F9493A197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3D0070-4217-4770-B7B8-BEFC75F4A8D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58A339-ED05-4449-9149-95A648AEDCB2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ABA971-BC57-41E1-B3F0-B0A16459D55A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26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More data always wins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D354E-B8EE-441C-9DCC-E51318FA953A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Additional data help only when they are relevant, reliable and representative.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940D53-6D2C-4FBC-80FD-8687A801EF3E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02ED52-D604-4958-9034-1030DF889644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5CA70A-0D42-456B-8FEA-F8210884BC43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667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High accuracy means success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FBFF7-5489-4E91-BF84-DE7A8745D2EA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Accuracy can hide costly minority-class errors and deployment failures.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B9D7FA-4A64-43AA-8E7A-B0AB4AD5B779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E660A98-1CC2-41FF-885A-E0240EC482E3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975A43-1074-462E-9308-366B9B98B73B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667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The model removes judgement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E9DC7E-0A5C-4493-B38A-2545937FBAB8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People still define targets, collect labels, select metrics and decide how predictions are used.</a:t>
            </a:r>
          </a:p>
        </p:txBody>
      </p:sp>
    </p:spTree>
    <p:extLst>
      <p:ext uri="{BB962C8B-B14F-4D97-AF65-F5344CB8AC3E}">
        <p14:creationId xmlns:p14="http://schemas.microsoft.com/office/powerpoint/2010/main" val="2041525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585A54-1CEE-4837-94C1-76D4C7A289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7491BC-A79C-4D07-9118-122214439AC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2309FA-9BBA-4B13-A7DE-0E645E11AC11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Responsible use of machine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F586D6E-CED1-4E62-9131-2A0D2AE11F51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58183-1866-4F6A-86FA-2B139D92372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2914F7-13AE-4E4F-BFC9-BFF0E6419C9E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2E7B99-87D3-45FF-AE65-C9780A8F017B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7154DF-F70B-4DED-8AEB-BB6E66193BDC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2BD1DB-6999-4EC9-9D5C-8ECA8EF98C37}"/>
              </a:ext>
            </a:extLst>
          </p:cNvPr>
          <p:cNvSpPr>
            <a:spLocks noGrp="1"/>
          </p:cNvSpPr>
          <p:nvPr/>
        </p:nvSpPr>
        <p:spPr>
          <a:xfrm>
            <a:off x="838200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Privacy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213B0E-C17E-42B5-907D-3F301FD418C5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Collect only necessary data and control access to sensitive records.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23C3F3-4BF5-4725-99F5-6ECF281635D0}"/>
              </a:ext>
            </a:extLst>
          </p:cNvPr>
          <p:cNvSpPr>
            <a:spLocks noGrp="1"/>
          </p:cNvSpPr>
          <p:nvPr/>
        </p:nvSpPr>
        <p:spPr>
          <a:xfrm>
            <a:off x="3405188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4C34F1-D6DA-401A-A0EA-8B34C06C709C}"/>
              </a:ext>
            </a:extLst>
          </p:cNvPr>
          <p:cNvSpPr>
            <a:spLocks noGrp="1"/>
          </p:cNvSpPr>
          <p:nvPr/>
        </p:nvSpPr>
        <p:spPr>
          <a:xfrm>
            <a:off x="3633788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20989B-52C7-479E-9299-C55835BC09EC}"/>
              </a:ext>
            </a:extLst>
          </p:cNvPr>
          <p:cNvSpPr>
            <a:spLocks noGrp="1"/>
          </p:cNvSpPr>
          <p:nvPr/>
        </p:nvSpPr>
        <p:spPr>
          <a:xfrm>
            <a:off x="3633788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Fairness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BE4C22-36A4-46D9-A325-08530C28E5A2}"/>
              </a:ext>
            </a:extLst>
          </p:cNvPr>
          <p:cNvSpPr>
            <a:spLocks noGrp="1"/>
          </p:cNvSpPr>
          <p:nvPr/>
        </p:nvSpPr>
        <p:spPr>
          <a:xfrm>
            <a:off x="3633788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Check whether errors or benefits differ across affected groups.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1621F9A-05EB-41A9-8D24-8455D57885DF}"/>
              </a:ext>
            </a:extLst>
          </p:cNvPr>
          <p:cNvSpPr>
            <a:spLocks noGrp="1"/>
          </p:cNvSpPr>
          <p:nvPr/>
        </p:nvSpPr>
        <p:spPr>
          <a:xfrm>
            <a:off x="6200775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60BA48-9C90-4661-961F-F3B3E5F90AA9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15FF99-23B5-4F04-AB73-6EB213AB3F56}"/>
              </a:ext>
            </a:extLst>
          </p:cNvPr>
          <p:cNvSpPr>
            <a:spLocks noGrp="1"/>
          </p:cNvSpPr>
          <p:nvPr/>
        </p:nvSpPr>
        <p:spPr>
          <a:xfrm>
            <a:off x="6429375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Transparency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AFFB6C-8152-477B-97B2-3890F51DB185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Document intended use, limitations and the meaning of outputs.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63EE172-F29F-4FAF-BD54-AB47A0C10D8B}"/>
              </a:ext>
            </a:extLst>
          </p:cNvPr>
          <p:cNvSpPr>
            <a:spLocks noGrp="1"/>
          </p:cNvSpPr>
          <p:nvPr/>
        </p:nvSpPr>
        <p:spPr>
          <a:xfrm>
            <a:off x="8996363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D09DB1-F748-4DBB-B285-9ACAF8648D54}"/>
              </a:ext>
            </a:extLst>
          </p:cNvPr>
          <p:cNvSpPr>
            <a:spLocks noGrp="1"/>
          </p:cNvSpPr>
          <p:nvPr/>
        </p:nvSpPr>
        <p:spPr>
          <a:xfrm>
            <a:off x="9224963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175208-4B80-47FF-A511-1BBD4046C739}"/>
              </a:ext>
            </a:extLst>
          </p:cNvPr>
          <p:cNvSpPr>
            <a:spLocks noGrp="1"/>
          </p:cNvSpPr>
          <p:nvPr/>
        </p:nvSpPr>
        <p:spPr>
          <a:xfrm>
            <a:off x="9224963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Accountability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EF6CC9-E906-4CFF-8156-BCB4D7F3763A}"/>
              </a:ext>
            </a:extLst>
          </p:cNvPr>
          <p:cNvSpPr>
            <a:spLocks noGrp="1"/>
          </p:cNvSpPr>
          <p:nvPr/>
        </p:nvSpPr>
        <p:spPr>
          <a:xfrm>
            <a:off x="9224963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Assign responsibility for review, monitoring and correction.</a:t>
            </a:r>
          </a:p>
        </p:txBody>
      </p:sp>
    </p:spTree>
    <p:extLst>
      <p:ext uri="{BB962C8B-B14F-4D97-AF65-F5344CB8AC3E}">
        <p14:creationId xmlns:p14="http://schemas.microsoft.com/office/powerpoint/2010/main" val="1587601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1F74091-3ADD-4E9B-B863-C638A24E7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EDF88-C59C-4E36-A646-118E2067B6B0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96A4BB-6D28-4FC7-8DF6-C13ABF64194F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Worked T-P-E formulation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7BA9FAB-A9D6-4C7B-98C0-84D548E9E410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DB606-D2D2-4C88-BE51-CB7B00024DA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3954B-87B5-49EA-A14C-E11FA1D344E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C3B9A8-5A9F-4912-B799-6893CA021D82}"/>
              </a:ext>
            </a:extLst>
          </p:cNvPr>
          <p:cNvSpPr>
            <a:spLocks noGrp="1"/>
          </p:cNvSpPr>
          <p:nvPr/>
        </p:nvSpPr>
        <p:spPr>
          <a:xfrm>
            <a:off x="809625" y="1666875"/>
            <a:ext cx="10572750" cy="714375"/>
          </a:xfrm>
          <a:prstGeom prst="roundRect">
            <a:avLst>
              <a:gd name="adj" fmla="val 10667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B45C89-7EB6-4F2A-8E0A-06D769456650}"/>
              </a:ext>
            </a:extLst>
          </p:cNvPr>
          <p:cNvSpPr>
            <a:spLocks noGrp="1"/>
          </p:cNvSpPr>
          <p:nvPr/>
        </p:nvSpPr>
        <p:spPr>
          <a:xfrm>
            <a:off x="1238250" y="1819275"/>
            <a:ext cx="971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Goal: forecast electricity demand for the next hour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B48D6C-0C42-421B-ABFA-CF36A10DA5D1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5179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8A4358-C345-4FDD-B6CF-990B75E3090B}"/>
              </a:ext>
            </a:extLst>
          </p:cNvPr>
          <p:cNvSpPr>
            <a:spLocks noGrp="1"/>
          </p:cNvSpPr>
          <p:nvPr/>
        </p:nvSpPr>
        <p:spPr>
          <a:xfrm>
            <a:off x="838200" y="3190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B40DF-4F58-4210-9F10-E1DAF73FD8C0}"/>
              </a:ext>
            </a:extLst>
          </p:cNvPr>
          <p:cNvSpPr>
            <a:spLocks noGrp="1"/>
          </p:cNvSpPr>
          <p:nvPr/>
        </p:nvSpPr>
        <p:spPr>
          <a:xfrm>
            <a:off x="838200" y="3819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05A1CD-EDF4-4D18-A7DF-F52AAE113F4C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30607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Predict hourly demand for each service region.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493139-5496-4187-A9A3-C519AD92DEAD}"/>
              </a:ext>
            </a:extLst>
          </p:cNvPr>
          <p:cNvSpPr>
            <a:spLocks noGrp="1"/>
          </p:cNvSpPr>
          <p:nvPr/>
        </p:nvSpPr>
        <p:spPr>
          <a:xfrm>
            <a:off x="4337050" y="2952750"/>
            <a:ext cx="35179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21ACABE-2DFC-405E-9D4E-A0DDB432F7EF}"/>
              </a:ext>
            </a:extLst>
          </p:cNvPr>
          <p:cNvSpPr>
            <a:spLocks noGrp="1"/>
          </p:cNvSpPr>
          <p:nvPr/>
        </p:nvSpPr>
        <p:spPr>
          <a:xfrm>
            <a:off x="4565650" y="3190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49FA48-9E0D-4BE7-862A-7C85B5D7120B}"/>
              </a:ext>
            </a:extLst>
          </p:cNvPr>
          <p:cNvSpPr>
            <a:spLocks noGrp="1"/>
          </p:cNvSpPr>
          <p:nvPr/>
        </p:nvSpPr>
        <p:spPr>
          <a:xfrm>
            <a:off x="4565650" y="3819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F213F-2CC5-495C-8185-109F9218D20F}"/>
              </a:ext>
            </a:extLst>
          </p:cNvPr>
          <p:cNvSpPr>
            <a:spLocks noGrp="1"/>
          </p:cNvSpPr>
          <p:nvPr/>
        </p:nvSpPr>
        <p:spPr>
          <a:xfrm>
            <a:off x="4565650" y="4381500"/>
            <a:ext cx="30607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Measure mean absolute error on future hours, with extra review of peak periods.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3C162F-084B-4880-8EBF-388C2B4B88CA}"/>
              </a:ext>
            </a:extLst>
          </p:cNvPr>
          <p:cNvSpPr>
            <a:spLocks noGrp="1"/>
          </p:cNvSpPr>
          <p:nvPr/>
        </p:nvSpPr>
        <p:spPr>
          <a:xfrm>
            <a:off x="8064500" y="2952750"/>
            <a:ext cx="35179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2D0567-1539-4214-8BF7-06B119439327}"/>
              </a:ext>
            </a:extLst>
          </p:cNvPr>
          <p:cNvSpPr>
            <a:spLocks noGrp="1"/>
          </p:cNvSpPr>
          <p:nvPr/>
        </p:nvSpPr>
        <p:spPr>
          <a:xfrm>
            <a:off x="8293100" y="3190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F880B0-497C-40CC-B101-D5B6E8C8A8F0}"/>
              </a:ext>
            </a:extLst>
          </p:cNvPr>
          <p:cNvSpPr>
            <a:spLocks noGrp="1"/>
          </p:cNvSpPr>
          <p:nvPr/>
        </p:nvSpPr>
        <p:spPr>
          <a:xfrm>
            <a:off x="8293100" y="3819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E87716-08F2-4E68-A9B0-5F73E06A8860}"/>
              </a:ext>
            </a:extLst>
          </p:cNvPr>
          <p:cNvSpPr>
            <a:spLocks noGrp="1"/>
          </p:cNvSpPr>
          <p:nvPr/>
        </p:nvSpPr>
        <p:spPr>
          <a:xfrm>
            <a:off x="8293100" y="4381500"/>
            <a:ext cx="30607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Use historical demand, weather and calendar observations available before prediction.</a:t>
            </a:r>
          </a:p>
        </p:txBody>
      </p:sp>
    </p:spTree>
    <p:extLst>
      <p:ext uri="{BB962C8B-B14F-4D97-AF65-F5344CB8AC3E}">
        <p14:creationId xmlns:p14="http://schemas.microsoft.com/office/powerpoint/2010/main" val="1029490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173A005-4E39-4ADB-B8A4-B8A84ED808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5FAE29-D2EE-4B4E-A0B2-3E424108709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A78347-1FBB-4A3F-ABCE-95CE67A910E3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Lecture 1 concept map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09D037D-D769-4DAD-9E88-3D84ADE2DC78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2F75C-20A5-482B-83D2-710FE73447B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2E969-3468-49FF-9F20-59B68DD7FADD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C0BD00-A538-4FBB-8D0F-B89B7F5CA94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3A2FCF-4EE4-4FFD-8B6A-C8FBF9E8DB2F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525DA9-DDCB-464D-A50C-E47EC237B26B}"/>
              </a:ext>
            </a:extLst>
          </p:cNvPr>
          <p:cNvSpPr>
            <a:spLocks noGrp="1"/>
          </p:cNvSpPr>
          <p:nvPr/>
        </p:nvSpPr>
        <p:spPr>
          <a:xfrm>
            <a:off x="838200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EF52BA-7BEE-4582-B1E0-A3A288BE2F7B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Define the task, measure and experience.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36F6FE-5B28-4CD6-90B0-84A87D4FC5F7}"/>
              </a:ext>
            </a:extLst>
          </p:cNvPr>
          <p:cNvSpPr>
            <a:spLocks noGrp="1"/>
          </p:cNvSpPr>
          <p:nvPr/>
        </p:nvSpPr>
        <p:spPr>
          <a:xfrm>
            <a:off x="3405188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C3652A-6384-460D-A6EC-534446ED216B}"/>
              </a:ext>
            </a:extLst>
          </p:cNvPr>
          <p:cNvSpPr>
            <a:spLocks noGrp="1"/>
          </p:cNvSpPr>
          <p:nvPr/>
        </p:nvSpPr>
        <p:spPr>
          <a:xfrm>
            <a:off x="3633788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6A84EF-2C54-45B4-9E50-DB29B43B201F}"/>
              </a:ext>
            </a:extLst>
          </p:cNvPr>
          <p:cNvSpPr>
            <a:spLocks noGrp="1"/>
          </p:cNvSpPr>
          <p:nvPr/>
        </p:nvSpPr>
        <p:spPr>
          <a:xfrm>
            <a:off x="3633788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Feedback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D6B4FB-1883-4BB2-A3FD-DC47C0CBC8FB}"/>
              </a:ext>
            </a:extLst>
          </p:cNvPr>
          <p:cNvSpPr>
            <a:spLocks noGrp="1"/>
          </p:cNvSpPr>
          <p:nvPr/>
        </p:nvSpPr>
        <p:spPr>
          <a:xfrm>
            <a:off x="3633788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Labels, unlabeled structure or rewards determine the paradigm.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EA42BF-F621-4382-AF55-6C8777A7C4A2}"/>
              </a:ext>
            </a:extLst>
          </p:cNvPr>
          <p:cNvSpPr>
            <a:spLocks noGrp="1"/>
          </p:cNvSpPr>
          <p:nvPr/>
        </p:nvSpPr>
        <p:spPr>
          <a:xfrm>
            <a:off x="6200775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D7EC47-D953-4DA6-A7EB-9D13F0EF3D6A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12CCB9-3010-41F6-A7C3-9C082088EF51}"/>
              </a:ext>
            </a:extLst>
          </p:cNvPr>
          <p:cNvSpPr>
            <a:spLocks noGrp="1"/>
          </p:cNvSpPr>
          <p:nvPr/>
        </p:nvSpPr>
        <p:spPr>
          <a:xfrm>
            <a:off x="6429375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C0E6C8-B1A5-41CB-A6A9-C7BD172DFAA2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Separate training, validation and final testing.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8CFCBA-C9A5-4FE5-A717-F4A2FA9A1001}"/>
              </a:ext>
            </a:extLst>
          </p:cNvPr>
          <p:cNvSpPr>
            <a:spLocks noGrp="1"/>
          </p:cNvSpPr>
          <p:nvPr/>
        </p:nvSpPr>
        <p:spPr>
          <a:xfrm>
            <a:off x="8996363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C8EDD19-1DE4-40B2-8B7D-CFABF8221F89}"/>
              </a:ext>
            </a:extLst>
          </p:cNvPr>
          <p:cNvSpPr>
            <a:spLocks noGrp="1"/>
          </p:cNvSpPr>
          <p:nvPr/>
        </p:nvSpPr>
        <p:spPr>
          <a:xfrm>
            <a:off x="9224963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599040-22C4-4676-BCB2-29812FD8AA05}"/>
              </a:ext>
            </a:extLst>
          </p:cNvPr>
          <p:cNvSpPr>
            <a:spLocks noGrp="1"/>
          </p:cNvSpPr>
          <p:nvPr/>
        </p:nvSpPr>
        <p:spPr>
          <a:xfrm>
            <a:off x="9224963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A76B41-9F7E-447A-B0B3-B8087C91364F}"/>
              </a:ext>
            </a:extLst>
          </p:cNvPr>
          <p:cNvSpPr>
            <a:spLocks noGrp="1"/>
          </p:cNvSpPr>
          <p:nvPr/>
        </p:nvSpPr>
        <p:spPr>
          <a:xfrm>
            <a:off x="9224963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Evaluate consequences and monitor performance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1013430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18EEA5-B951-4C45-9E03-572BFF41F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993EB6-0C00-4641-BB4E-DCA2C9B9F3E6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F03203-92F1-4A8D-83C7-835D1E834B03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Exit check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7D531ED-BFD5-4548-93C5-1E8DBB2B747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C4DC0-F6C8-4BA4-9713-806202EE9FC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2D524-6537-474E-8085-E962567A230E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6D0C95-CE01-4CE0-9353-B84D368FC4A4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10287000" cy="238125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F46C6-CBB5-41D2-961D-6A458384DFAF}"/>
              </a:ext>
            </a:extLst>
          </p:cNvPr>
          <p:cNvSpPr>
            <a:spLocks noGrp="1"/>
          </p:cNvSpPr>
          <p:nvPr/>
        </p:nvSpPr>
        <p:spPr>
          <a:xfrm>
            <a:off x="1428750" y="23336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rPr>
              <a:t>KEY TAKEAWAY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5F1E6D-E47F-413B-A71F-91AC83D959E9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9334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37"/>
          </a:bodyPr>
          <a:lstStyle/>
          <a:p>
            <a:pPr algn="ctr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 a proposed ML system, state T, P, E and identify the feedback that determines its learning paradigm.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C49A01-C49F-48CD-BEEA-8C52508C72E3}"/>
              </a:ext>
            </a:extLst>
          </p:cNvPr>
          <p:cNvSpPr>
            <a:spLocks noGrp="1"/>
          </p:cNvSpPr>
          <p:nvPr/>
        </p:nvSpPr>
        <p:spPr>
          <a:xfrm>
            <a:off x="2000250" y="4905375"/>
            <a:ext cx="8191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Next: how learning systems differ by reasoning, timing and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46475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2145</Words>
  <Application>Microsoft Office PowerPoint</Application>
  <DocSecurity>0</DocSecurity>
  <PresentationFormat>Widescreen</PresentationFormat>
  <Paragraphs>433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Calibri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Dr. Muhammad Tayyab Chaudhry</cp:lastModifiedBy>
  <cp:revision>2</cp:revision>
  <dcterms:created xsi:type="dcterms:W3CDTF">2026-09-15T03:16:04Z</dcterms:created>
  <dcterms:modified xsi:type="dcterms:W3CDTF">2026-09-15T06:14:09Z</dcterms:modified>
</cp:coreProperties>
</file>