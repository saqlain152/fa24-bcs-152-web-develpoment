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85" d="100"/>
          <a:sy n="85" d="100"/>
        </p:scale>
        <p:origin x="-590" y="-5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05D797-4E47-467D-4BF8-EFFA1E2351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EFB27859-8FBC-8C7E-6AC4-CAE7A01550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CCB414B8-01A9-51ED-BB33-35EE0ECE4E40}"/>
              </a:ext>
            </a:extLst>
          </p:cNvPr>
          <p:cNvSpPr>
            <a:spLocks noGrp="1"/>
          </p:cNvSpPr>
          <p:nvPr>
            <p:ph type="dt" sz="half" idx="10"/>
          </p:nvPr>
        </p:nvSpPr>
        <p:spPr/>
        <p:txBody>
          <a:bodyPr/>
          <a:lstStyle/>
          <a:p>
            <a:fld id="{B571FDCC-C94F-49B6-9D2D-33944F2E29B5}" type="datetimeFigureOut">
              <a:rPr lang="en-US" smtClean="0"/>
              <a:t>2/25/2026</a:t>
            </a:fld>
            <a:endParaRPr lang="en-US"/>
          </a:p>
        </p:txBody>
      </p:sp>
      <p:sp>
        <p:nvSpPr>
          <p:cNvPr id="5" name="Footer Placeholder 4">
            <a:extLst>
              <a:ext uri="{FF2B5EF4-FFF2-40B4-BE49-F238E27FC236}">
                <a16:creationId xmlns:a16="http://schemas.microsoft.com/office/drawing/2014/main" xmlns="" id="{3B9D9BA0-2CF8-DE97-D70D-DBA8CA6A8F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5858C4AF-3705-46E0-3CEE-D49CCC3DB29A}"/>
              </a:ext>
            </a:extLst>
          </p:cNvPr>
          <p:cNvSpPr>
            <a:spLocks noGrp="1"/>
          </p:cNvSpPr>
          <p:nvPr>
            <p:ph type="sldNum" sz="quarter" idx="12"/>
          </p:nvPr>
        </p:nvSpPr>
        <p:spPr/>
        <p:txBody>
          <a:bodyPr/>
          <a:lstStyle/>
          <a:p>
            <a:fld id="{BB06B07B-2FD0-4607-9E0D-B9620BF9DF32}" type="slidenum">
              <a:rPr lang="en-US" smtClean="0"/>
              <a:t>‹#›</a:t>
            </a:fld>
            <a:endParaRPr lang="en-US"/>
          </a:p>
        </p:txBody>
      </p:sp>
    </p:spTree>
    <p:extLst>
      <p:ext uri="{BB962C8B-B14F-4D97-AF65-F5344CB8AC3E}">
        <p14:creationId xmlns:p14="http://schemas.microsoft.com/office/powerpoint/2010/main" val="729698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8A819C-30DC-4F4E-9427-F3AE29EF84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B1F70366-C707-861E-623F-9A7B9A2CA1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86C68EC1-DC8A-C73F-8FCF-0D36C949B7DE}"/>
              </a:ext>
            </a:extLst>
          </p:cNvPr>
          <p:cNvSpPr>
            <a:spLocks noGrp="1"/>
          </p:cNvSpPr>
          <p:nvPr>
            <p:ph type="dt" sz="half" idx="10"/>
          </p:nvPr>
        </p:nvSpPr>
        <p:spPr/>
        <p:txBody>
          <a:bodyPr/>
          <a:lstStyle/>
          <a:p>
            <a:fld id="{B571FDCC-C94F-49B6-9D2D-33944F2E29B5}" type="datetimeFigureOut">
              <a:rPr lang="en-US" smtClean="0"/>
              <a:t>2/25/2026</a:t>
            </a:fld>
            <a:endParaRPr lang="en-US"/>
          </a:p>
        </p:txBody>
      </p:sp>
      <p:sp>
        <p:nvSpPr>
          <p:cNvPr id="5" name="Footer Placeholder 4">
            <a:extLst>
              <a:ext uri="{FF2B5EF4-FFF2-40B4-BE49-F238E27FC236}">
                <a16:creationId xmlns:a16="http://schemas.microsoft.com/office/drawing/2014/main" xmlns="" id="{3E3D289C-240B-38F0-8340-D159B0E35D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8265ED60-681C-6685-2453-DF48EC729356}"/>
              </a:ext>
            </a:extLst>
          </p:cNvPr>
          <p:cNvSpPr>
            <a:spLocks noGrp="1"/>
          </p:cNvSpPr>
          <p:nvPr>
            <p:ph type="sldNum" sz="quarter" idx="12"/>
          </p:nvPr>
        </p:nvSpPr>
        <p:spPr/>
        <p:txBody>
          <a:bodyPr/>
          <a:lstStyle/>
          <a:p>
            <a:fld id="{BB06B07B-2FD0-4607-9E0D-B9620BF9DF32}" type="slidenum">
              <a:rPr lang="en-US" smtClean="0"/>
              <a:t>‹#›</a:t>
            </a:fld>
            <a:endParaRPr lang="en-US"/>
          </a:p>
        </p:txBody>
      </p:sp>
    </p:spTree>
    <p:extLst>
      <p:ext uri="{BB962C8B-B14F-4D97-AF65-F5344CB8AC3E}">
        <p14:creationId xmlns:p14="http://schemas.microsoft.com/office/powerpoint/2010/main" val="1150621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605C99-919D-8ACF-DEEE-4AC76A1F2E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0856EB67-7453-2E64-5BE4-3733F2F2F4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924136F3-DBD8-230A-4E75-16D5963406E7}"/>
              </a:ext>
            </a:extLst>
          </p:cNvPr>
          <p:cNvSpPr>
            <a:spLocks noGrp="1"/>
          </p:cNvSpPr>
          <p:nvPr>
            <p:ph type="dt" sz="half" idx="10"/>
          </p:nvPr>
        </p:nvSpPr>
        <p:spPr/>
        <p:txBody>
          <a:bodyPr/>
          <a:lstStyle/>
          <a:p>
            <a:fld id="{B571FDCC-C94F-49B6-9D2D-33944F2E29B5}" type="datetimeFigureOut">
              <a:rPr lang="en-US" smtClean="0"/>
              <a:t>2/25/2026</a:t>
            </a:fld>
            <a:endParaRPr lang="en-US"/>
          </a:p>
        </p:txBody>
      </p:sp>
      <p:sp>
        <p:nvSpPr>
          <p:cNvPr id="5" name="Footer Placeholder 4">
            <a:extLst>
              <a:ext uri="{FF2B5EF4-FFF2-40B4-BE49-F238E27FC236}">
                <a16:creationId xmlns:a16="http://schemas.microsoft.com/office/drawing/2014/main" xmlns="" id="{93D10411-E8C0-C431-3C34-B90C71048F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6A92D153-4514-0516-DEF1-5338BF5A77F6}"/>
              </a:ext>
            </a:extLst>
          </p:cNvPr>
          <p:cNvSpPr>
            <a:spLocks noGrp="1"/>
          </p:cNvSpPr>
          <p:nvPr>
            <p:ph type="sldNum" sz="quarter" idx="12"/>
          </p:nvPr>
        </p:nvSpPr>
        <p:spPr/>
        <p:txBody>
          <a:bodyPr/>
          <a:lstStyle/>
          <a:p>
            <a:fld id="{BB06B07B-2FD0-4607-9E0D-B9620BF9DF32}" type="slidenum">
              <a:rPr lang="en-US" smtClean="0"/>
              <a:t>‹#›</a:t>
            </a:fld>
            <a:endParaRPr lang="en-US"/>
          </a:p>
        </p:txBody>
      </p:sp>
    </p:spTree>
    <p:extLst>
      <p:ext uri="{BB962C8B-B14F-4D97-AF65-F5344CB8AC3E}">
        <p14:creationId xmlns:p14="http://schemas.microsoft.com/office/powerpoint/2010/main" val="3575822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D33734-6777-8A2E-F50F-3A8B743C92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3F1BB24F-834F-0F33-D27B-219913BB1A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D45836DE-E9E8-C1DE-4BFD-110B5E9633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CAC2F582-3D65-86CF-B5A8-539707B06B24}"/>
              </a:ext>
            </a:extLst>
          </p:cNvPr>
          <p:cNvSpPr>
            <a:spLocks noGrp="1"/>
          </p:cNvSpPr>
          <p:nvPr>
            <p:ph type="dt" sz="half" idx="10"/>
          </p:nvPr>
        </p:nvSpPr>
        <p:spPr/>
        <p:txBody>
          <a:bodyPr/>
          <a:lstStyle/>
          <a:p>
            <a:fld id="{B571FDCC-C94F-49B6-9D2D-33944F2E29B5}" type="datetimeFigureOut">
              <a:rPr lang="en-US" smtClean="0"/>
              <a:t>2/25/2026</a:t>
            </a:fld>
            <a:endParaRPr lang="en-US"/>
          </a:p>
        </p:txBody>
      </p:sp>
      <p:sp>
        <p:nvSpPr>
          <p:cNvPr id="6" name="Footer Placeholder 5">
            <a:extLst>
              <a:ext uri="{FF2B5EF4-FFF2-40B4-BE49-F238E27FC236}">
                <a16:creationId xmlns:a16="http://schemas.microsoft.com/office/drawing/2014/main" xmlns="" id="{B9C06CE3-3BBE-C87E-274D-8B36CF0AEB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D9BE2B47-984C-CF83-4658-F4F7F20B8159}"/>
              </a:ext>
            </a:extLst>
          </p:cNvPr>
          <p:cNvSpPr>
            <a:spLocks noGrp="1"/>
          </p:cNvSpPr>
          <p:nvPr>
            <p:ph type="sldNum" sz="quarter" idx="12"/>
          </p:nvPr>
        </p:nvSpPr>
        <p:spPr/>
        <p:txBody>
          <a:bodyPr/>
          <a:lstStyle/>
          <a:p>
            <a:fld id="{BB06B07B-2FD0-4607-9E0D-B9620BF9DF32}" type="slidenum">
              <a:rPr lang="en-US" smtClean="0"/>
              <a:t>‹#›</a:t>
            </a:fld>
            <a:endParaRPr lang="en-US"/>
          </a:p>
        </p:txBody>
      </p:sp>
    </p:spTree>
    <p:extLst>
      <p:ext uri="{BB962C8B-B14F-4D97-AF65-F5344CB8AC3E}">
        <p14:creationId xmlns:p14="http://schemas.microsoft.com/office/powerpoint/2010/main" val="3990128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23A027-3CB6-118E-2B73-5C2C9CFABF0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8872A276-C0F9-71E9-2060-DE0F2E2BBA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79DF87D4-2CE2-E9D4-D5F9-14065741F0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8C9A5EC0-5E6C-1752-B931-7A42511864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F1D1B96B-DB53-786E-0D68-B386BE0B4A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5EB8C30A-118D-E17C-E1A9-B8B7044F7144}"/>
              </a:ext>
            </a:extLst>
          </p:cNvPr>
          <p:cNvSpPr>
            <a:spLocks noGrp="1"/>
          </p:cNvSpPr>
          <p:nvPr>
            <p:ph type="dt" sz="half" idx="10"/>
          </p:nvPr>
        </p:nvSpPr>
        <p:spPr/>
        <p:txBody>
          <a:bodyPr/>
          <a:lstStyle/>
          <a:p>
            <a:fld id="{B571FDCC-C94F-49B6-9D2D-33944F2E29B5}" type="datetimeFigureOut">
              <a:rPr lang="en-US" smtClean="0"/>
              <a:t>2/25/2026</a:t>
            </a:fld>
            <a:endParaRPr lang="en-US"/>
          </a:p>
        </p:txBody>
      </p:sp>
      <p:sp>
        <p:nvSpPr>
          <p:cNvPr id="8" name="Footer Placeholder 7">
            <a:extLst>
              <a:ext uri="{FF2B5EF4-FFF2-40B4-BE49-F238E27FC236}">
                <a16:creationId xmlns:a16="http://schemas.microsoft.com/office/drawing/2014/main" xmlns="" id="{DFA314A6-A916-328B-7F60-FB14CFC91A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11605269-1B91-1BCB-B2E9-4C0AA27E1472}"/>
              </a:ext>
            </a:extLst>
          </p:cNvPr>
          <p:cNvSpPr>
            <a:spLocks noGrp="1"/>
          </p:cNvSpPr>
          <p:nvPr>
            <p:ph type="sldNum" sz="quarter" idx="12"/>
          </p:nvPr>
        </p:nvSpPr>
        <p:spPr/>
        <p:txBody>
          <a:bodyPr/>
          <a:lstStyle/>
          <a:p>
            <a:fld id="{BB06B07B-2FD0-4607-9E0D-B9620BF9DF32}" type="slidenum">
              <a:rPr lang="en-US" smtClean="0"/>
              <a:t>‹#›</a:t>
            </a:fld>
            <a:endParaRPr lang="en-US"/>
          </a:p>
        </p:txBody>
      </p:sp>
    </p:spTree>
    <p:extLst>
      <p:ext uri="{BB962C8B-B14F-4D97-AF65-F5344CB8AC3E}">
        <p14:creationId xmlns:p14="http://schemas.microsoft.com/office/powerpoint/2010/main" val="798839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773D21-49E2-DE8C-E37C-73B9994E41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BBC9AF40-6429-7AC1-F97E-391E85847204}"/>
              </a:ext>
            </a:extLst>
          </p:cNvPr>
          <p:cNvSpPr>
            <a:spLocks noGrp="1"/>
          </p:cNvSpPr>
          <p:nvPr>
            <p:ph type="dt" sz="half" idx="10"/>
          </p:nvPr>
        </p:nvSpPr>
        <p:spPr/>
        <p:txBody>
          <a:bodyPr/>
          <a:lstStyle/>
          <a:p>
            <a:fld id="{B571FDCC-C94F-49B6-9D2D-33944F2E29B5}" type="datetimeFigureOut">
              <a:rPr lang="en-US" smtClean="0"/>
              <a:t>2/25/2026</a:t>
            </a:fld>
            <a:endParaRPr lang="en-US"/>
          </a:p>
        </p:txBody>
      </p:sp>
      <p:sp>
        <p:nvSpPr>
          <p:cNvPr id="4" name="Footer Placeholder 3">
            <a:extLst>
              <a:ext uri="{FF2B5EF4-FFF2-40B4-BE49-F238E27FC236}">
                <a16:creationId xmlns:a16="http://schemas.microsoft.com/office/drawing/2014/main" xmlns="" id="{A286D71F-562A-4E80-90D8-42BF5B9E1BA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31EEE156-C073-AE20-19DA-C91788C20728}"/>
              </a:ext>
            </a:extLst>
          </p:cNvPr>
          <p:cNvSpPr>
            <a:spLocks noGrp="1"/>
          </p:cNvSpPr>
          <p:nvPr>
            <p:ph type="sldNum" sz="quarter" idx="12"/>
          </p:nvPr>
        </p:nvSpPr>
        <p:spPr/>
        <p:txBody>
          <a:bodyPr/>
          <a:lstStyle/>
          <a:p>
            <a:fld id="{BB06B07B-2FD0-4607-9E0D-B9620BF9DF32}" type="slidenum">
              <a:rPr lang="en-US" smtClean="0"/>
              <a:t>‹#›</a:t>
            </a:fld>
            <a:endParaRPr lang="en-US"/>
          </a:p>
        </p:txBody>
      </p:sp>
    </p:spTree>
    <p:extLst>
      <p:ext uri="{BB962C8B-B14F-4D97-AF65-F5344CB8AC3E}">
        <p14:creationId xmlns:p14="http://schemas.microsoft.com/office/powerpoint/2010/main" val="1331642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6C57E4CA-C2C9-4E3D-DF27-8A7589738416}"/>
              </a:ext>
            </a:extLst>
          </p:cNvPr>
          <p:cNvSpPr>
            <a:spLocks noGrp="1"/>
          </p:cNvSpPr>
          <p:nvPr>
            <p:ph type="dt" sz="half" idx="10"/>
          </p:nvPr>
        </p:nvSpPr>
        <p:spPr/>
        <p:txBody>
          <a:bodyPr/>
          <a:lstStyle/>
          <a:p>
            <a:fld id="{B571FDCC-C94F-49B6-9D2D-33944F2E29B5}" type="datetimeFigureOut">
              <a:rPr lang="en-US" smtClean="0"/>
              <a:t>2/25/2026</a:t>
            </a:fld>
            <a:endParaRPr lang="en-US"/>
          </a:p>
        </p:txBody>
      </p:sp>
      <p:sp>
        <p:nvSpPr>
          <p:cNvPr id="3" name="Footer Placeholder 2">
            <a:extLst>
              <a:ext uri="{FF2B5EF4-FFF2-40B4-BE49-F238E27FC236}">
                <a16:creationId xmlns:a16="http://schemas.microsoft.com/office/drawing/2014/main" xmlns="" id="{63C6111E-24C8-1D0D-5D85-9A7007C89A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F1106381-E207-1391-F1CF-191CFAB5D886}"/>
              </a:ext>
            </a:extLst>
          </p:cNvPr>
          <p:cNvSpPr>
            <a:spLocks noGrp="1"/>
          </p:cNvSpPr>
          <p:nvPr>
            <p:ph type="sldNum" sz="quarter" idx="12"/>
          </p:nvPr>
        </p:nvSpPr>
        <p:spPr/>
        <p:txBody>
          <a:bodyPr/>
          <a:lstStyle/>
          <a:p>
            <a:fld id="{BB06B07B-2FD0-4607-9E0D-B9620BF9DF32}" type="slidenum">
              <a:rPr lang="en-US" smtClean="0"/>
              <a:t>‹#›</a:t>
            </a:fld>
            <a:endParaRPr lang="en-US"/>
          </a:p>
        </p:txBody>
      </p:sp>
    </p:spTree>
    <p:extLst>
      <p:ext uri="{BB962C8B-B14F-4D97-AF65-F5344CB8AC3E}">
        <p14:creationId xmlns:p14="http://schemas.microsoft.com/office/powerpoint/2010/main" val="1369628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7B84C23-B0EE-751C-E1D4-FE01680569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BF87A1E2-BC31-EFF5-C445-3610B9BC89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917AF86E-A880-9A90-A041-6C82B1E679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893DC59-40EC-0457-C528-35DB57A840D5}"/>
              </a:ext>
            </a:extLst>
          </p:cNvPr>
          <p:cNvSpPr>
            <a:spLocks noGrp="1"/>
          </p:cNvSpPr>
          <p:nvPr>
            <p:ph type="dt" sz="half" idx="10"/>
          </p:nvPr>
        </p:nvSpPr>
        <p:spPr/>
        <p:txBody>
          <a:bodyPr/>
          <a:lstStyle/>
          <a:p>
            <a:fld id="{B571FDCC-C94F-49B6-9D2D-33944F2E29B5}" type="datetimeFigureOut">
              <a:rPr lang="en-US" smtClean="0"/>
              <a:t>2/25/2026</a:t>
            </a:fld>
            <a:endParaRPr lang="en-US"/>
          </a:p>
        </p:txBody>
      </p:sp>
      <p:sp>
        <p:nvSpPr>
          <p:cNvPr id="6" name="Footer Placeholder 5">
            <a:extLst>
              <a:ext uri="{FF2B5EF4-FFF2-40B4-BE49-F238E27FC236}">
                <a16:creationId xmlns:a16="http://schemas.microsoft.com/office/drawing/2014/main" xmlns="" id="{7CC29100-E497-CCDD-DDEF-A6EB4C8B3E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44957B6A-338E-AF07-6441-160EE8C8F733}"/>
              </a:ext>
            </a:extLst>
          </p:cNvPr>
          <p:cNvSpPr>
            <a:spLocks noGrp="1"/>
          </p:cNvSpPr>
          <p:nvPr>
            <p:ph type="sldNum" sz="quarter" idx="12"/>
          </p:nvPr>
        </p:nvSpPr>
        <p:spPr/>
        <p:txBody>
          <a:bodyPr/>
          <a:lstStyle/>
          <a:p>
            <a:fld id="{BB06B07B-2FD0-4607-9E0D-B9620BF9DF32}" type="slidenum">
              <a:rPr lang="en-US" smtClean="0"/>
              <a:t>‹#›</a:t>
            </a:fld>
            <a:endParaRPr lang="en-US"/>
          </a:p>
        </p:txBody>
      </p:sp>
    </p:spTree>
    <p:extLst>
      <p:ext uri="{BB962C8B-B14F-4D97-AF65-F5344CB8AC3E}">
        <p14:creationId xmlns:p14="http://schemas.microsoft.com/office/powerpoint/2010/main" val="4236033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C5568E4-5EB1-FF19-73F0-2AC3DDC0F8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C48DD370-45FF-F077-510F-43703D9E42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D0124FB5-E93A-BB4D-50A4-B5EBB05110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238B13C-5C91-A048-1F90-F3A1A04092C5}"/>
              </a:ext>
            </a:extLst>
          </p:cNvPr>
          <p:cNvSpPr>
            <a:spLocks noGrp="1"/>
          </p:cNvSpPr>
          <p:nvPr>
            <p:ph type="dt" sz="half" idx="10"/>
          </p:nvPr>
        </p:nvSpPr>
        <p:spPr/>
        <p:txBody>
          <a:bodyPr/>
          <a:lstStyle/>
          <a:p>
            <a:fld id="{B571FDCC-C94F-49B6-9D2D-33944F2E29B5}" type="datetimeFigureOut">
              <a:rPr lang="en-US" smtClean="0"/>
              <a:t>2/25/2026</a:t>
            </a:fld>
            <a:endParaRPr lang="en-US"/>
          </a:p>
        </p:txBody>
      </p:sp>
      <p:sp>
        <p:nvSpPr>
          <p:cNvPr id="6" name="Footer Placeholder 5">
            <a:extLst>
              <a:ext uri="{FF2B5EF4-FFF2-40B4-BE49-F238E27FC236}">
                <a16:creationId xmlns:a16="http://schemas.microsoft.com/office/drawing/2014/main" xmlns="" id="{AD642EBD-34A8-2A7E-F77A-EE85FC799E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595A3F7E-4318-106B-91AC-DFF621BE67FD}"/>
              </a:ext>
            </a:extLst>
          </p:cNvPr>
          <p:cNvSpPr>
            <a:spLocks noGrp="1"/>
          </p:cNvSpPr>
          <p:nvPr>
            <p:ph type="sldNum" sz="quarter" idx="12"/>
          </p:nvPr>
        </p:nvSpPr>
        <p:spPr/>
        <p:txBody>
          <a:bodyPr/>
          <a:lstStyle/>
          <a:p>
            <a:fld id="{BB06B07B-2FD0-4607-9E0D-B9620BF9DF32}" type="slidenum">
              <a:rPr lang="en-US" smtClean="0"/>
              <a:t>‹#›</a:t>
            </a:fld>
            <a:endParaRPr lang="en-US"/>
          </a:p>
        </p:txBody>
      </p:sp>
    </p:spTree>
    <p:extLst>
      <p:ext uri="{BB962C8B-B14F-4D97-AF65-F5344CB8AC3E}">
        <p14:creationId xmlns:p14="http://schemas.microsoft.com/office/powerpoint/2010/main" val="3061808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E6EA9A-7B62-4848-7D6F-C92DEB08086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AF474B3C-5AE9-240B-5FF7-1084E3B975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45CB7FF-C008-9E75-2CFF-90C8C254973D}"/>
              </a:ext>
            </a:extLst>
          </p:cNvPr>
          <p:cNvSpPr>
            <a:spLocks noGrp="1"/>
          </p:cNvSpPr>
          <p:nvPr>
            <p:ph type="dt" sz="half" idx="10"/>
          </p:nvPr>
        </p:nvSpPr>
        <p:spPr/>
        <p:txBody>
          <a:bodyPr/>
          <a:lstStyle/>
          <a:p>
            <a:fld id="{B571FDCC-C94F-49B6-9D2D-33944F2E29B5}" type="datetimeFigureOut">
              <a:rPr lang="en-US" smtClean="0"/>
              <a:t>2/25/2026</a:t>
            </a:fld>
            <a:endParaRPr lang="en-US"/>
          </a:p>
        </p:txBody>
      </p:sp>
      <p:sp>
        <p:nvSpPr>
          <p:cNvPr id="5" name="Footer Placeholder 4">
            <a:extLst>
              <a:ext uri="{FF2B5EF4-FFF2-40B4-BE49-F238E27FC236}">
                <a16:creationId xmlns:a16="http://schemas.microsoft.com/office/drawing/2014/main" xmlns="" id="{83247E2F-DCB7-AE13-69C8-C0843459FF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B7EFE4AF-C4A3-C299-C96A-EBA4B6A379F8}"/>
              </a:ext>
            </a:extLst>
          </p:cNvPr>
          <p:cNvSpPr>
            <a:spLocks noGrp="1"/>
          </p:cNvSpPr>
          <p:nvPr>
            <p:ph type="sldNum" sz="quarter" idx="12"/>
          </p:nvPr>
        </p:nvSpPr>
        <p:spPr/>
        <p:txBody>
          <a:bodyPr/>
          <a:lstStyle/>
          <a:p>
            <a:fld id="{BB06B07B-2FD0-4607-9E0D-B9620BF9DF32}" type="slidenum">
              <a:rPr lang="en-US" smtClean="0"/>
              <a:t>‹#›</a:t>
            </a:fld>
            <a:endParaRPr lang="en-US"/>
          </a:p>
        </p:txBody>
      </p:sp>
    </p:spTree>
    <p:extLst>
      <p:ext uri="{BB962C8B-B14F-4D97-AF65-F5344CB8AC3E}">
        <p14:creationId xmlns:p14="http://schemas.microsoft.com/office/powerpoint/2010/main" val="2570656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D3C3CFD0-4285-4EE3-B457-BC52667D02D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702B15D5-3E54-B605-C9E4-10252869CC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176EE0C0-0F4A-2498-3D3B-29440028C895}"/>
              </a:ext>
            </a:extLst>
          </p:cNvPr>
          <p:cNvSpPr>
            <a:spLocks noGrp="1"/>
          </p:cNvSpPr>
          <p:nvPr>
            <p:ph type="dt" sz="half" idx="10"/>
          </p:nvPr>
        </p:nvSpPr>
        <p:spPr/>
        <p:txBody>
          <a:bodyPr/>
          <a:lstStyle/>
          <a:p>
            <a:fld id="{B571FDCC-C94F-49B6-9D2D-33944F2E29B5}" type="datetimeFigureOut">
              <a:rPr lang="en-US" smtClean="0"/>
              <a:t>2/25/2026</a:t>
            </a:fld>
            <a:endParaRPr lang="en-US"/>
          </a:p>
        </p:txBody>
      </p:sp>
      <p:sp>
        <p:nvSpPr>
          <p:cNvPr id="5" name="Footer Placeholder 4">
            <a:extLst>
              <a:ext uri="{FF2B5EF4-FFF2-40B4-BE49-F238E27FC236}">
                <a16:creationId xmlns:a16="http://schemas.microsoft.com/office/drawing/2014/main" xmlns="" id="{DC80105D-E46E-ACCA-B67D-7A2F650AFE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E8A6A212-6F8A-A9BD-4CD3-9F3FCD169C17}"/>
              </a:ext>
            </a:extLst>
          </p:cNvPr>
          <p:cNvSpPr>
            <a:spLocks noGrp="1"/>
          </p:cNvSpPr>
          <p:nvPr>
            <p:ph type="sldNum" sz="quarter" idx="12"/>
          </p:nvPr>
        </p:nvSpPr>
        <p:spPr/>
        <p:txBody>
          <a:bodyPr/>
          <a:lstStyle/>
          <a:p>
            <a:fld id="{BB06B07B-2FD0-4607-9E0D-B9620BF9DF32}" type="slidenum">
              <a:rPr lang="en-US" smtClean="0"/>
              <a:t>‹#›</a:t>
            </a:fld>
            <a:endParaRPr lang="en-US"/>
          </a:p>
        </p:txBody>
      </p:sp>
    </p:spTree>
    <p:extLst>
      <p:ext uri="{BB962C8B-B14F-4D97-AF65-F5344CB8AC3E}">
        <p14:creationId xmlns:p14="http://schemas.microsoft.com/office/powerpoint/2010/main" val="787481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709B3A5B-CFAC-3BE1-E434-87BF6F48D8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CDAA6E33-4869-6B65-1D16-46FBE3B171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5E3317CA-4D25-05B9-FB50-670ACEB029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71FDCC-C94F-49B6-9D2D-33944F2E29B5}" type="datetimeFigureOut">
              <a:rPr lang="en-US" smtClean="0"/>
              <a:t>2/25/2026</a:t>
            </a:fld>
            <a:endParaRPr lang="en-US"/>
          </a:p>
        </p:txBody>
      </p:sp>
      <p:sp>
        <p:nvSpPr>
          <p:cNvPr id="5" name="Footer Placeholder 4">
            <a:extLst>
              <a:ext uri="{FF2B5EF4-FFF2-40B4-BE49-F238E27FC236}">
                <a16:creationId xmlns:a16="http://schemas.microsoft.com/office/drawing/2014/main" xmlns="" id="{1C102D05-3E58-6C64-174B-783EB97D14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B9F09442-462A-B52C-32D2-4E1622FCF6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06B07B-2FD0-4607-9E0D-B9620BF9DF32}" type="slidenum">
              <a:rPr lang="en-US" smtClean="0"/>
              <a:t>‹#›</a:t>
            </a:fld>
            <a:endParaRPr lang="en-US"/>
          </a:p>
        </p:txBody>
      </p:sp>
    </p:spTree>
    <p:extLst>
      <p:ext uri="{BB962C8B-B14F-4D97-AF65-F5344CB8AC3E}">
        <p14:creationId xmlns:p14="http://schemas.microsoft.com/office/powerpoint/2010/main" val="25633211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01E108-8463-07A5-AB92-45408B3CECE4}"/>
              </a:ext>
            </a:extLst>
          </p:cNvPr>
          <p:cNvSpPr>
            <a:spLocks noGrp="1"/>
          </p:cNvSpPr>
          <p:nvPr>
            <p:ph type="ctrTitle"/>
          </p:nvPr>
        </p:nvSpPr>
        <p:spPr/>
        <p:txBody>
          <a:bodyPr/>
          <a:lstStyle/>
          <a:p>
            <a:r>
              <a:rPr lang="en-US" dirty="0"/>
              <a:t>Data Modeling In MongoDB</a:t>
            </a:r>
          </a:p>
        </p:txBody>
      </p:sp>
    </p:spTree>
    <p:extLst>
      <p:ext uri="{BB962C8B-B14F-4D97-AF65-F5344CB8AC3E}">
        <p14:creationId xmlns:p14="http://schemas.microsoft.com/office/powerpoint/2010/main" val="28934238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B891135-6F80-7B45-522B-2C787BB24A2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67949EE1-B3BA-0D74-321F-5689CBCB27BC}"/>
              </a:ext>
            </a:extLst>
          </p:cNvPr>
          <p:cNvSpPr>
            <a:spLocks noGrp="1"/>
          </p:cNvSpPr>
          <p:nvPr>
            <p:ph idx="1"/>
          </p:nvPr>
        </p:nvSpPr>
        <p:spPr/>
        <p:txBody>
          <a:bodyPr/>
          <a:lstStyle/>
          <a:p>
            <a:r>
              <a:rPr lang="en-US" b="1" dirty="0"/>
              <a:t>Definition:</a:t>
            </a:r>
            <a:r>
              <a:rPr lang="en-US" dirty="0"/>
              <a:t/>
            </a:r>
            <a:br>
              <a:rPr lang="en-US" dirty="0"/>
            </a:br>
            <a:r>
              <a:rPr lang="en-US" dirty="0"/>
              <a:t>Data modeling is the organization and structuring of data within a database, linking related data entities. It is the </a:t>
            </a:r>
            <a:r>
              <a:rPr lang="en-US" b="1" dirty="0"/>
              <a:t>first step in designing an application</a:t>
            </a:r>
            <a:r>
              <a:rPr lang="en-US" dirty="0"/>
              <a:t>, enabling efficient storage and retrieval of data.</a:t>
            </a:r>
          </a:p>
          <a:p>
            <a:r>
              <a:rPr lang="en-US" b="1" dirty="0"/>
              <a:t>Purpose:</a:t>
            </a:r>
            <a:endParaRPr lang="en-US" dirty="0"/>
          </a:p>
          <a:p>
            <a:r>
              <a:rPr lang="en-US" dirty="0"/>
              <a:t>Group data based on </a:t>
            </a:r>
            <a:r>
              <a:rPr lang="en-US" b="1" dirty="0"/>
              <a:t>business use cases</a:t>
            </a:r>
            <a:endParaRPr lang="en-US" dirty="0"/>
          </a:p>
          <a:p>
            <a:r>
              <a:rPr lang="en-US" dirty="0"/>
              <a:t>Design a </a:t>
            </a:r>
            <a:r>
              <a:rPr lang="en-US" b="1" dirty="0"/>
              <a:t>schema</a:t>
            </a:r>
            <a:r>
              <a:rPr lang="en-US" dirty="0"/>
              <a:t> to store related data efficiently</a:t>
            </a:r>
          </a:p>
          <a:p>
            <a:r>
              <a:rPr lang="en-US" dirty="0"/>
              <a:t>Establish </a:t>
            </a:r>
            <a:r>
              <a:rPr lang="en-US" b="1" dirty="0"/>
              <a:t>relationships</a:t>
            </a:r>
            <a:r>
              <a:rPr lang="en-US" dirty="0"/>
              <a:t> between entities</a:t>
            </a:r>
          </a:p>
          <a:p>
            <a:endParaRPr lang="en-US" dirty="0"/>
          </a:p>
        </p:txBody>
      </p:sp>
    </p:spTree>
    <p:extLst>
      <p:ext uri="{BB962C8B-B14F-4D97-AF65-F5344CB8AC3E}">
        <p14:creationId xmlns:p14="http://schemas.microsoft.com/office/powerpoint/2010/main" val="13320952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046893-570C-4788-425C-C5A6EEE9055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AE0E4831-4A65-D852-BC60-7C463F053E79}"/>
              </a:ext>
            </a:extLst>
          </p:cNvPr>
          <p:cNvSpPr>
            <a:spLocks noGrp="1"/>
          </p:cNvSpPr>
          <p:nvPr>
            <p:ph idx="1"/>
          </p:nvPr>
        </p:nvSpPr>
        <p:spPr/>
        <p:txBody>
          <a:bodyPr/>
          <a:lstStyle/>
          <a:p>
            <a:r>
              <a:rPr lang="en-US" b="1" dirty="0"/>
              <a:t>Example:</a:t>
            </a:r>
            <a:endParaRPr lang="en-US" dirty="0"/>
          </a:p>
          <a:p>
            <a:r>
              <a:rPr lang="en-US" dirty="0"/>
              <a:t>Website for student course enrollment:</a:t>
            </a:r>
          </a:p>
          <a:p>
            <a:pPr lvl="1"/>
            <a:r>
              <a:rPr lang="en-US" b="1" dirty="0"/>
              <a:t>Student data</a:t>
            </a:r>
            <a:r>
              <a:rPr lang="en-US" dirty="0"/>
              <a:t> stored together</a:t>
            </a:r>
          </a:p>
          <a:p>
            <a:pPr lvl="1"/>
            <a:r>
              <a:rPr lang="en-US" b="1" dirty="0"/>
              <a:t>Course data</a:t>
            </a:r>
            <a:r>
              <a:rPr lang="en-US" dirty="0"/>
              <a:t> stored together</a:t>
            </a:r>
          </a:p>
          <a:p>
            <a:pPr lvl="1"/>
            <a:r>
              <a:rPr lang="en-US" b="1" dirty="0"/>
              <a:t>Relationships</a:t>
            </a:r>
            <a:r>
              <a:rPr lang="en-US" dirty="0"/>
              <a:t>:</a:t>
            </a:r>
          </a:p>
          <a:p>
            <a:pPr lvl="2"/>
            <a:r>
              <a:rPr lang="en-US" dirty="0"/>
              <a:t>Student </a:t>
            </a:r>
            <a:r>
              <a:rPr lang="en-US" b="1" dirty="0"/>
              <a:t>enrolls in</a:t>
            </a:r>
            <a:r>
              <a:rPr lang="en-US" dirty="0"/>
              <a:t> Course</a:t>
            </a:r>
          </a:p>
          <a:p>
            <a:pPr lvl="2"/>
            <a:r>
              <a:rPr lang="en-US" dirty="0"/>
              <a:t>Course </a:t>
            </a:r>
            <a:r>
              <a:rPr lang="en-US" b="1" dirty="0"/>
              <a:t>contains</a:t>
            </a:r>
            <a:r>
              <a:rPr lang="en-US" dirty="0"/>
              <a:t> Students</a:t>
            </a:r>
          </a:p>
          <a:p>
            <a:endParaRPr lang="en-US" dirty="0"/>
          </a:p>
        </p:txBody>
      </p:sp>
    </p:spTree>
    <p:extLst>
      <p:ext uri="{BB962C8B-B14F-4D97-AF65-F5344CB8AC3E}">
        <p14:creationId xmlns:p14="http://schemas.microsoft.com/office/powerpoint/2010/main" val="39352090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BB4ED2E-909D-8EFA-8A52-ED50B749008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xmlns="" id="{591E2B02-7BBA-054E-75E0-1B73EC2A23A4}"/>
              </a:ext>
            </a:extLst>
          </p:cNvPr>
          <p:cNvPicPr>
            <a:picLocks noGrp="1" noChangeAspect="1"/>
          </p:cNvPicPr>
          <p:nvPr>
            <p:ph idx="1"/>
          </p:nvPr>
        </p:nvPicPr>
        <p:blipFill>
          <a:blip r:embed="rId2"/>
          <a:stretch>
            <a:fillRect/>
          </a:stretch>
        </p:blipFill>
        <p:spPr>
          <a:xfrm>
            <a:off x="1135626" y="1991032"/>
            <a:ext cx="9586451" cy="4350774"/>
          </a:xfrm>
          <a:prstGeom prst="rect">
            <a:avLst/>
          </a:prstGeom>
        </p:spPr>
      </p:pic>
    </p:spTree>
    <p:extLst>
      <p:ext uri="{BB962C8B-B14F-4D97-AF65-F5344CB8AC3E}">
        <p14:creationId xmlns:p14="http://schemas.microsoft.com/office/powerpoint/2010/main" val="5459539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10D8C70-596A-CECF-AA61-C837ED181F5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232F0CB0-482D-DC32-15C4-F1D4E8753CBA}"/>
              </a:ext>
            </a:extLst>
          </p:cNvPr>
          <p:cNvSpPr>
            <a:spLocks noGrp="1"/>
          </p:cNvSpPr>
          <p:nvPr>
            <p:ph idx="1"/>
          </p:nvPr>
        </p:nvSpPr>
        <p:spPr/>
        <p:txBody>
          <a:bodyPr/>
          <a:lstStyle/>
          <a:p>
            <a:r>
              <a:rPr lang="en-US" dirty="0"/>
              <a:t>There might be other ways, for example, we can embed the most important details of the course a particular student has enrolled in, with the student data itself. </a:t>
            </a:r>
          </a:p>
          <a:p>
            <a:r>
              <a:rPr lang="en-US" dirty="0"/>
              <a:t>The choice of modeling depends on many factors, like the workload and business use cases of your application.</a:t>
            </a:r>
          </a:p>
          <a:p>
            <a:endParaRPr lang="en-US" dirty="0"/>
          </a:p>
        </p:txBody>
      </p:sp>
    </p:spTree>
    <p:extLst>
      <p:ext uri="{BB962C8B-B14F-4D97-AF65-F5344CB8AC3E}">
        <p14:creationId xmlns:p14="http://schemas.microsoft.com/office/powerpoint/2010/main" val="41075819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D5D02D-1A90-32F4-C361-77879E3E30BC}"/>
              </a:ext>
            </a:extLst>
          </p:cNvPr>
          <p:cNvSpPr>
            <a:spLocks noGrp="1"/>
          </p:cNvSpPr>
          <p:nvPr>
            <p:ph type="title"/>
          </p:nvPr>
        </p:nvSpPr>
        <p:spPr/>
        <p:txBody>
          <a:bodyPr/>
          <a:lstStyle/>
          <a:p>
            <a:r>
              <a:rPr lang="en-US" b="1" dirty="0"/>
              <a:t>Denormalization</a:t>
            </a:r>
            <a:endParaRPr lang="en-US" dirty="0"/>
          </a:p>
        </p:txBody>
      </p:sp>
      <p:pic>
        <p:nvPicPr>
          <p:cNvPr id="5" name="Content Placeholder 4">
            <a:extLst>
              <a:ext uri="{FF2B5EF4-FFF2-40B4-BE49-F238E27FC236}">
                <a16:creationId xmlns:a16="http://schemas.microsoft.com/office/drawing/2014/main" xmlns="" id="{DD66EBDD-CD90-9191-14FC-B51425EB9FC2}"/>
              </a:ext>
            </a:extLst>
          </p:cNvPr>
          <p:cNvPicPr>
            <a:picLocks noGrp="1" noChangeAspect="1"/>
          </p:cNvPicPr>
          <p:nvPr>
            <p:ph idx="1"/>
          </p:nvPr>
        </p:nvPicPr>
        <p:blipFill>
          <a:blip r:embed="rId2"/>
          <a:stretch>
            <a:fillRect/>
          </a:stretch>
        </p:blipFill>
        <p:spPr>
          <a:xfrm>
            <a:off x="4406708" y="1825625"/>
            <a:ext cx="3378583" cy="4351338"/>
          </a:xfrm>
          <a:prstGeom prst="rect">
            <a:avLst/>
          </a:prstGeom>
        </p:spPr>
      </p:pic>
    </p:spTree>
    <p:extLst>
      <p:ext uri="{BB962C8B-B14F-4D97-AF65-F5344CB8AC3E}">
        <p14:creationId xmlns:p14="http://schemas.microsoft.com/office/powerpoint/2010/main" val="32148603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798146-C7D8-BA93-3EEF-751648F420D8}"/>
              </a:ext>
            </a:extLst>
          </p:cNvPr>
          <p:cNvSpPr>
            <a:spLocks noGrp="1"/>
          </p:cNvSpPr>
          <p:nvPr>
            <p:ph type="title"/>
          </p:nvPr>
        </p:nvSpPr>
        <p:spPr/>
        <p:txBody>
          <a:bodyPr/>
          <a:lstStyle/>
          <a:p>
            <a:r>
              <a:rPr lang="en-US" dirty="0"/>
              <a:t>Data Modeling Important Terms</a:t>
            </a:r>
          </a:p>
        </p:txBody>
      </p:sp>
      <p:sp>
        <p:nvSpPr>
          <p:cNvPr id="3" name="Content Placeholder 2">
            <a:extLst>
              <a:ext uri="{FF2B5EF4-FFF2-40B4-BE49-F238E27FC236}">
                <a16:creationId xmlns:a16="http://schemas.microsoft.com/office/drawing/2014/main" xmlns="" id="{6B613187-674D-761B-A62F-06B88EDDDAD5}"/>
              </a:ext>
            </a:extLst>
          </p:cNvPr>
          <p:cNvSpPr>
            <a:spLocks noGrp="1"/>
          </p:cNvSpPr>
          <p:nvPr>
            <p:ph idx="1"/>
          </p:nvPr>
        </p:nvSpPr>
        <p:spPr/>
        <p:txBody>
          <a:bodyPr/>
          <a:lstStyle/>
          <a:p>
            <a:r>
              <a:rPr lang="en-US" dirty="0"/>
              <a:t>Normalization is the process of dividing the data into multiple entities based on their relationships. </a:t>
            </a:r>
          </a:p>
          <a:p>
            <a:r>
              <a:rPr lang="en-US" dirty="0"/>
              <a:t>Each of the entities can then be referenced in the other depending on their relationship. </a:t>
            </a:r>
          </a:p>
          <a:p>
            <a:r>
              <a:rPr lang="en-US" dirty="0"/>
              <a:t>Normalization helps to reduce data redundancy, remove data anomalies, and improve data consistency. </a:t>
            </a:r>
          </a:p>
          <a:p>
            <a:r>
              <a:rPr lang="en-US" dirty="0"/>
              <a:t>For example, in our above example, the Student and Course are two separate entities that are referenced when needed. </a:t>
            </a:r>
          </a:p>
        </p:txBody>
      </p:sp>
    </p:spTree>
    <p:extLst>
      <p:ext uri="{BB962C8B-B14F-4D97-AF65-F5344CB8AC3E}">
        <p14:creationId xmlns:p14="http://schemas.microsoft.com/office/powerpoint/2010/main" val="110467346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696A09-93E3-3FA6-D0E3-EB1800972B9C}"/>
              </a:ext>
            </a:extLst>
          </p:cNvPr>
          <p:cNvSpPr>
            <a:spLocks noGrp="1"/>
          </p:cNvSpPr>
          <p:nvPr>
            <p:ph type="title"/>
          </p:nvPr>
        </p:nvSpPr>
        <p:spPr/>
        <p:txBody>
          <a:bodyPr/>
          <a:lstStyle/>
          <a:p>
            <a:r>
              <a:rPr lang="en-US" b="1" dirty="0"/>
              <a:t>Denormalization</a:t>
            </a:r>
            <a:br>
              <a:rPr lang="en-US" b="1" dirty="0"/>
            </a:br>
            <a:endParaRPr lang="en-US" dirty="0"/>
          </a:p>
        </p:txBody>
      </p:sp>
      <p:sp>
        <p:nvSpPr>
          <p:cNvPr id="3" name="Content Placeholder 2">
            <a:extLst>
              <a:ext uri="{FF2B5EF4-FFF2-40B4-BE49-F238E27FC236}">
                <a16:creationId xmlns:a16="http://schemas.microsoft.com/office/drawing/2014/main" xmlns="" id="{C573F08B-51BE-FCB4-D5CF-9741A9217377}"/>
              </a:ext>
            </a:extLst>
          </p:cNvPr>
          <p:cNvSpPr>
            <a:spLocks noGrp="1"/>
          </p:cNvSpPr>
          <p:nvPr>
            <p:ph idx="1"/>
          </p:nvPr>
        </p:nvSpPr>
        <p:spPr/>
        <p:txBody>
          <a:bodyPr/>
          <a:lstStyle/>
          <a:p>
            <a:r>
              <a:rPr lang="en-US" dirty="0"/>
              <a:t>Denormalization is the reverse process, where redundant data is added. </a:t>
            </a:r>
          </a:p>
          <a:p>
            <a:r>
              <a:rPr lang="en-US" dirty="0"/>
              <a:t>For example, in the second example above, we have the course 1 details in both Student 1 and Student 2 data. Although this creates data redundancy, it is helpful if we want to access the student and course details together. </a:t>
            </a:r>
          </a:p>
          <a:p>
            <a:r>
              <a:rPr lang="en-US" dirty="0"/>
              <a:t>This would avoid multiple joins or lookups to the database. </a:t>
            </a:r>
          </a:p>
          <a:p>
            <a:r>
              <a:rPr lang="en-US" dirty="0"/>
              <a:t>In MongoDB, normalization is equivalent to referencing, and denormalization is equivalent to embedding.</a:t>
            </a:r>
          </a:p>
        </p:txBody>
      </p:sp>
    </p:spTree>
    <p:extLst>
      <p:ext uri="{BB962C8B-B14F-4D97-AF65-F5344CB8AC3E}">
        <p14:creationId xmlns:p14="http://schemas.microsoft.com/office/powerpoint/2010/main" val="7043214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D0985CA-08FF-E238-76D7-A8E0B5191BEC}"/>
              </a:ext>
            </a:extLst>
          </p:cNvPr>
          <p:cNvSpPr>
            <a:spLocks noGrp="1"/>
          </p:cNvSpPr>
          <p:nvPr>
            <p:ph type="title"/>
          </p:nvPr>
        </p:nvSpPr>
        <p:spPr/>
        <p:txBody>
          <a:bodyPr/>
          <a:lstStyle/>
          <a:p>
            <a:r>
              <a:rPr lang="en-US" dirty="0"/>
              <a:t>Entity</a:t>
            </a:r>
          </a:p>
        </p:txBody>
      </p:sp>
      <p:sp>
        <p:nvSpPr>
          <p:cNvPr id="3" name="Content Placeholder 2">
            <a:extLst>
              <a:ext uri="{FF2B5EF4-FFF2-40B4-BE49-F238E27FC236}">
                <a16:creationId xmlns:a16="http://schemas.microsoft.com/office/drawing/2014/main" xmlns="" id="{227F2874-BD34-CA8D-C1E0-F3695B438DF1}"/>
              </a:ext>
            </a:extLst>
          </p:cNvPr>
          <p:cNvSpPr>
            <a:spLocks noGrp="1"/>
          </p:cNvSpPr>
          <p:nvPr>
            <p:ph idx="1"/>
          </p:nvPr>
        </p:nvSpPr>
        <p:spPr/>
        <p:txBody>
          <a:bodyPr/>
          <a:lstStyle/>
          <a:p>
            <a:r>
              <a:rPr lang="en-US" dirty="0"/>
              <a:t>Entities are the main items that need to be modeled. Every entity should be unique. </a:t>
            </a:r>
          </a:p>
          <a:p>
            <a:r>
              <a:rPr lang="en-US" dirty="0"/>
              <a:t>In the above example, both Student and Course are unique entities around which our application is centered.</a:t>
            </a:r>
          </a:p>
        </p:txBody>
      </p:sp>
    </p:spTree>
    <p:extLst>
      <p:ext uri="{BB962C8B-B14F-4D97-AF65-F5344CB8AC3E}">
        <p14:creationId xmlns:p14="http://schemas.microsoft.com/office/powerpoint/2010/main" val="2808850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17AC4F-2100-07A5-EE53-7A664E9026BC}"/>
              </a:ext>
            </a:extLst>
          </p:cNvPr>
          <p:cNvSpPr>
            <a:spLocks noGrp="1"/>
          </p:cNvSpPr>
          <p:nvPr>
            <p:ph type="title"/>
          </p:nvPr>
        </p:nvSpPr>
        <p:spPr/>
        <p:txBody>
          <a:bodyPr/>
          <a:lstStyle/>
          <a:p>
            <a:r>
              <a:rPr lang="en-US" b="1" dirty="0"/>
              <a:t>Attribute</a:t>
            </a:r>
            <a:endParaRPr lang="en-US" dirty="0"/>
          </a:p>
        </p:txBody>
      </p:sp>
      <p:sp>
        <p:nvSpPr>
          <p:cNvPr id="3" name="Content Placeholder 2">
            <a:extLst>
              <a:ext uri="{FF2B5EF4-FFF2-40B4-BE49-F238E27FC236}">
                <a16:creationId xmlns:a16="http://schemas.microsoft.com/office/drawing/2014/main" xmlns="" id="{53DECED2-B4DA-0C0F-7D03-3DE8AF795F87}"/>
              </a:ext>
            </a:extLst>
          </p:cNvPr>
          <p:cNvSpPr>
            <a:spLocks noGrp="1"/>
          </p:cNvSpPr>
          <p:nvPr>
            <p:ph idx="1"/>
          </p:nvPr>
        </p:nvSpPr>
        <p:spPr/>
        <p:txBody>
          <a:bodyPr/>
          <a:lstStyle/>
          <a:p>
            <a:r>
              <a:rPr lang="en-US" dirty="0"/>
              <a:t>An entity should have a set of attributes that describe the entity.</a:t>
            </a:r>
          </a:p>
          <a:p>
            <a:r>
              <a:rPr lang="en-US" dirty="0"/>
              <a:t> For example, a student should have a student id, name, hobbies, date of birth, skills, and many other details that are relevant to the business use case.</a:t>
            </a:r>
          </a:p>
        </p:txBody>
      </p:sp>
    </p:spTree>
    <p:extLst>
      <p:ext uri="{BB962C8B-B14F-4D97-AF65-F5344CB8AC3E}">
        <p14:creationId xmlns:p14="http://schemas.microsoft.com/office/powerpoint/2010/main" val="3580066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41C8DA-EC9E-6159-622A-D44D52660859}"/>
              </a:ext>
            </a:extLst>
          </p:cNvPr>
          <p:cNvSpPr>
            <a:spLocks noGrp="1"/>
          </p:cNvSpPr>
          <p:nvPr>
            <p:ph type="title"/>
          </p:nvPr>
        </p:nvSpPr>
        <p:spPr/>
        <p:txBody>
          <a:bodyPr/>
          <a:lstStyle/>
          <a:p>
            <a:r>
              <a:rPr lang="en-US" b="1" dirty="0"/>
              <a:t>Relationship</a:t>
            </a:r>
            <a:br>
              <a:rPr lang="en-US" b="1" dirty="0"/>
            </a:br>
            <a:endParaRPr lang="en-US" dirty="0"/>
          </a:p>
        </p:txBody>
      </p:sp>
      <p:sp>
        <p:nvSpPr>
          <p:cNvPr id="3" name="Content Placeholder 2">
            <a:extLst>
              <a:ext uri="{FF2B5EF4-FFF2-40B4-BE49-F238E27FC236}">
                <a16:creationId xmlns:a16="http://schemas.microsoft.com/office/drawing/2014/main" xmlns="" id="{69BF139C-1EA4-BE34-A32C-7BC5E75C1907}"/>
              </a:ext>
            </a:extLst>
          </p:cNvPr>
          <p:cNvSpPr>
            <a:spLocks noGrp="1"/>
          </p:cNvSpPr>
          <p:nvPr>
            <p:ph idx="1"/>
          </p:nvPr>
        </p:nvSpPr>
        <p:spPr/>
        <p:txBody>
          <a:bodyPr/>
          <a:lstStyle/>
          <a:p>
            <a:r>
              <a:rPr lang="en-US" dirty="0"/>
              <a:t>A relationship indicates the relationship between the various entities used in the application. </a:t>
            </a:r>
          </a:p>
          <a:p>
            <a:r>
              <a:rPr lang="en-US" dirty="0"/>
              <a:t>For example, a student can enroll in many courses, but can have one single mentor. Similarly, one course can have multiple students. </a:t>
            </a:r>
          </a:p>
        </p:txBody>
      </p:sp>
    </p:spTree>
    <p:extLst>
      <p:ext uri="{BB962C8B-B14F-4D97-AF65-F5344CB8AC3E}">
        <p14:creationId xmlns:p14="http://schemas.microsoft.com/office/powerpoint/2010/main" val="3824486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75A726-B47B-1219-E532-9069DE720849}"/>
              </a:ext>
            </a:extLst>
          </p:cNvPr>
          <p:cNvSpPr>
            <a:spLocks noGrp="1"/>
          </p:cNvSpPr>
          <p:nvPr>
            <p:ph type="title"/>
          </p:nvPr>
        </p:nvSpPr>
        <p:spPr/>
        <p:txBody>
          <a:bodyPr/>
          <a:lstStyle/>
          <a:p>
            <a:r>
              <a:rPr lang="en-US" b="1" dirty="0"/>
              <a:t>Indexing</a:t>
            </a:r>
            <a:endParaRPr lang="en-US" dirty="0"/>
          </a:p>
        </p:txBody>
      </p:sp>
      <p:sp>
        <p:nvSpPr>
          <p:cNvPr id="3" name="Content Placeholder 2">
            <a:extLst>
              <a:ext uri="{FF2B5EF4-FFF2-40B4-BE49-F238E27FC236}">
                <a16:creationId xmlns:a16="http://schemas.microsoft.com/office/drawing/2014/main" xmlns="" id="{0E8967CE-4F26-A7C1-3EC4-B13483FE7584}"/>
              </a:ext>
            </a:extLst>
          </p:cNvPr>
          <p:cNvSpPr>
            <a:spLocks noGrp="1"/>
          </p:cNvSpPr>
          <p:nvPr>
            <p:ph idx="1"/>
          </p:nvPr>
        </p:nvSpPr>
        <p:spPr/>
        <p:txBody>
          <a:bodyPr/>
          <a:lstStyle/>
          <a:p>
            <a:r>
              <a:rPr lang="en-US" dirty="0"/>
              <a:t>Indexing is essential to maintain a good performance. </a:t>
            </a:r>
          </a:p>
          <a:p>
            <a:r>
              <a:rPr lang="en-US" dirty="0"/>
              <a:t>It is preferred to index the fields (columns) that are most used in queries, so that the search can be faster. </a:t>
            </a:r>
          </a:p>
          <a:p>
            <a:r>
              <a:rPr lang="en-US" dirty="0"/>
              <a:t>However, indexing should be done carefully, as it comes with a cost.</a:t>
            </a:r>
            <a:br>
              <a:rPr lang="en-US" dirty="0"/>
            </a:br>
            <a:r>
              <a:rPr lang="en-US" dirty="0"/>
              <a:t> </a:t>
            </a:r>
            <a:br>
              <a:rPr lang="en-US" dirty="0"/>
            </a:br>
            <a:endParaRPr lang="en-US" dirty="0"/>
          </a:p>
        </p:txBody>
      </p:sp>
    </p:spTree>
    <p:extLst>
      <p:ext uri="{BB962C8B-B14F-4D97-AF65-F5344CB8AC3E}">
        <p14:creationId xmlns:p14="http://schemas.microsoft.com/office/powerpoint/2010/main" val="963083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8EB26F-CD24-334E-768A-A13E5CE52B71}"/>
              </a:ext>
            </a:extLst>
          </p:cNvPr>
          <p:cNvSpPr>
            <a:spLocks noGrp="1"/>
          </p:cNvSpPr>
          <p:nvPr>
            <p:ph type="title"/>
          </p:nvPr>
        </p:nvSpPr>
        <p:spPr/>
        <p:txBody>
          <a:bodyPr/>
          <a:lstStyle/>
          <a:p>
            <a:r>
              <a:rPr lang="de-DE" b="1" dirty="0"/>
              <a:t>Traditional schema vs MongoDB schema</a:t>
            </a:r>
            <a:br>
              <a:rPr lang="de-DE" b="1" dirty="0"/>
            </a:br>
            <a:endParaRPr lang="en-US" dirty="0"/>
          </a:p>
        </p:txBody>
      </p:sp>
      <p:sp>
        <p:nvSpPr>
          <p:cNvPr id="3" name="Content Placeholder 2">
            <a:extLst>
              <a:ext uri="{FF2B5EF4-FFF2-40B4-BE49-F238E27FC236}">
                <a16:creationId xmlns:a16="http://schemas.microsoft.com/office/drawing/2014/main" xmlns="" id="{1262A10A-F38A-EC3A-3C1D-D2024167C6A6}"/>
              </a:ext>
            </a:extLst>
          </p:cNvPr>
          <p:cNvSpPr>
            <a:spLocks noGrp="1"/>
          </p:cNvSpPr>
          <p:nvPr>
            <p:ph idx="1"/>
          </p:nvPr>
        </p:nvSpPr>
        <p:spPr/>
        <p:txBody>
          <a:bodyPr/>
          <a:lstStyle/>
          <a:p>
            <a:r>
              <a:rPr lang="en-US" dirty="0"/>
              <a:t>In a relational database, the data dictates how you develop your application. </a:t>
            </a:r>
          </a:p>
          <a:p>
            <a:r>
              <a:rPr lang="en-US" dirty="0"/>
              <a:t>This is because while designing the schema, you would normalize your data, and then, as you develop your application, you may have some concerns in the way you access the data. </a:t>
            </a:r>
          </a:p>
          <a:p>
            <a:r>
              <a:rPr lang="en-US" dirty="0"/>
              <a:t>As the database structure is rigid in a relational database, you cannot change your schema often, even if you do so, and </a:t>
            </a:r>
            <a:r>
              <a:rPr lang="en-US" dirty="0" err="1"/>
              <a:t>denormalize</a:t>
            </a:r>
            <a:r>
              <a:rPr lang="en-US" dirty="0"/>
              <a:t> your data, you could get into serious performance concerns. </a:t>
            </a:r>
          </a:p>
        </p:txBody>
      </p:sp>
    </p:spTree>
    <p:extLst>
      <p:ext uri="{BB962C8B-B14F-4D97-AF65-F5344CB8AC3E}">
        <p14:creationId xmlns:p14="http://schemas.microsoft.com/office/powerpoint/2010/main" val="1956516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A2E5CC3-B209-3EDF-7A91-288C34C5FFB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9AB5621F-7230-4EEA-101D-05CEE6A37A49}"/>
              </a:ext>
            </a:extLst>
          </p:cNvPr>
          <p:cNvSpPr>
            <a:spLocks noGrp="1"/>
          </p:cNvSpPr>
          <p:nvPr>
            <p:ph idx="1"/>
          </p:nvPr>
        </p:nvSpPr>
        <p:spPr/>
        <p:txBody>
          <a:bodyPr/>
          <a:lstStyle/>
          <a:p>
            <a:r>
              <a:rPr lang="en-US" dirty="0"/>
              <a:t>In MongoDB, however, you can follow an iterative approach to developing and improving the data model as you develop your application. </a:t>
            </a:r>
          </a:p>
          <a:p>
            <a:r>
              <a:rPr lang="en-US" dirty="0"/>
              <a:t>Since MongoDB offers a flexible schema, the changes to the structure of the data do not need any downtime and do not affect the performance. </a:t>
            </a:r>
          </a:p>
        </p:txBody>
      </p:sp>
    </p:spTree>
    <p:extLst>
      <p:ext uri="{BB962C8B-B14F-4D97-AF65-F5344CB8AC3E}">
        <p14:creationId xmlns:p14="http://schemas.microsoft.com/office/powerpoint/2010/main" val="2268141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5986007-6AEE-85B6-ACF9-886D8D23B0B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ADACF0D5-BA82-33D8-1DEF-A3C0DF918ED3}"/>
              </a:ext>
            </a:extLst>
          </p:cNvPr>
          <p:cNvSpPr>
            <a:spLocks noGrp="1"/>
          </p:cNvSpPr>
          <p:nvPr>
            <p:ph idx="1"/>
          </p:nvPr>
        </p:nvSpPr>
        <p:spPr/>
        <p:txBody>
          <a:bodyPr/>
          <a:lstStyle/>
          <a:p>
            <a:r>
              <a:rPr lang="en-US" dirty="0"/>
              <a:t>For example, if you created two entities for Student and Course, and as you notice later, that teachers or admins look up for the student data and their corresponding course data together, you can consider embedding both into the same document! </a:t>
            </a:r>
          </a:p>
          <a:p>
            <a:r>
              <a:rPr lang="en-US" dirty="0"/>
              <a:t>To reduce data duplication, you could add only the required fields from the course collection into the Student collection.</a:t>
            </a:r>
          </a:p>
        </p:txBody>
      </p:sp>
    </p:spTree>
    <p:extLst>
      <p:ext uri="{BB962C8B-B14F-4D97-AF65-F5344CB8AC3E}">
        <p14:creationId xmlns:p14="http://schemas.microsoft.com/office/powerpoint/2010/main" val="3956220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9546B2-2384-8D20-39F6-3D391F55D3BE}"/>
              </a:ext>
            </a:extLst>
          </p:cNvPr>
          <p:cNvSpPr>
            <a:spLocks noGrp="1"/>
          </p:cNvSpPr>
          <p:nvPr>
            <p:ph type="title"/>
          </p:nvPr>
        </p:nvSpPr>
        <p:spPr/>
        <p:txBody>
          <a:bodyPr/>
          <a:lstStyle/>
          <a:p>
            <a:r>
              <a:rPr lang="en-US" b="1" dirty="0"/>
              <a:t>Data modeling in MongoDB</a:t>
            </a:r>
            <a:br>
              <a:rPr lang="en-US" b="1" dirty="0"/>
            </a:br>
            <a:endParaRPr lang="en-US" dirty="0"/>
          </a:p>
        </p:txBody>
      </p:sp>
      <p:sp>
        <p:nvSpPr>
          <p:cNvPr id="3" name="Content Placeholder 2">
            <a:extLst>
              <a:ext uri="{FF2B5EF4-FFF2-40B4-BE49-F238E27FC236}">
                <a16:creationId xmlns:a16="http://schemas.microsoft.com/office/drawing/2014/main" xmlns="" id="{3DF12700-0CEF-962F-9AF4-14500BC03A52}"/>
              </a:ext>
            </a:extLst>
          </p:cNvPr>
          <p:cNvSpPr>
            <a:spLocks noGrp="1"/>
          </p:cNvSpPr>
          <p:nvPr>
            <p:ph idx="1"/>
          </p:nvPr>
        </p:nvSpPr>
        <p:spPr/>
        <p:txBody>
          <a:bodyPr/>
          <a:lstStyle/>
          <a:p>
            <a:r>
              <a:rPr lang="en-US" dirty="0"/>
              <a:t>Data modeling in MongoDB is a three-step process: </a:t>
            </a:r>
          </a:p>
          <a:p>
            <a:r>
              <a:rPr lang="en-US" dirty="0"/>
              <a:t>Workload identification - In this, we identify the main use cases and entities required in the application. For example, in our student and courses app, we can have students, courses, tutors, and reviews as the main entities. We may get more entities as we expand on the use cases. Use cases can be anything, like how many enrolments were done on a particular day, how many classes were conducted per day, and so on.</a:t>
            </a:r>
          </a:p>
          <a:p>
            <a:endParaRPr lang="en-US" dirty="0"/>
          </a:p>
        </p:txBody>
      </p:sp>
    </p:spTree>
    <p:extLst>
      <p:ext uri="{BB962C8B-B14F-4D97-AF65-F5344CB8AC3E}">
        <p14:creationId xmlns:p14="http://schemas.microsoft.com/office/powerpoint/2010/main" val="15791850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5F4D1B-DA51-5EAE-A704-B5EA95059AA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71E039FF-34FB-E13A-4DD5-941BB031CA45}"/>
              </a:ext>
            </a:extLst>
          </p:cNvPr>
          <p:cNvSpPr>
            <a:spLocks noGrp="1"/>
          </p:cNvSpPr>
          <p:nvPr>
            <p:ph idx="1"/>
          </p:nvPr>
        </p:nvSpPr>
        <p:spPr/>
        <p:txBody>
          <a:bodyPr/>
          <a:lstStyle/>
          <a:p>
            <a:r>
              <a:rPr lang="en-US" dirty="0"/>
              <a:t>Relationship identification - Once the workloads are identified and entities are in place, we can define the relationships between the entities. There are 3 main types of relationships: 1:1, 1:many, and many: many. Identifying relationships will help us understand what patterns to apply while modeling the data.</a:t>
            </a:r>
          </a:p>
          <a:p>
            <a:r>
              <a:rPr lang="en-US" dirty="0"/>
              <a:t>Applying patterns - Patterns help in establishing a proper structure and best practices in the model. MongoDB has many patterns that can be used in different scenarios. Some popular patterns are the inheritance pattern, schema versioning pattern, and the computed pattern</a:t>
            </a:r>
          </a:p>
          <a:p>
            <a:endParaRPr lang="en-US" dirty="0"/>
          </a:p>
        </p:txBody>
      </p:sp>
    </p:spTree>
    <p:extLst>
      <p:ext uri="{BB962C8B-B14F-4D97-AF65-F5344CB8AC3E}">
        <p14:creationId xmlns:p14="http://schemas.microsoft.com/office/powerpoint/2010/main" val="319414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349742-47FF-89CB-16F6-5C7566430329}"/>
              </a:ext>
            </a:extLst>
          </p:cNvPr>
          <p:cNvSpPr>
            <a:spLocks noGrp="1"/>
          </p:cNvSpPr>
          <p:nvPr>
            <p:ph type="title"/>
          </p:nvPr>
        </p:nvSpPr>
        <p:spPr/>
        <p:txBody>
          <a:bodyPr/>
          <a:lstStyle/>
          <a:p>
            <a:r>
              <a:rPr lang="en-US" b="1" dirty="0"/>
              <a:t>Workload identification</a:t>
            </a:r>
            <a:br>
              <a:rPr lang="en-US" b="1" dirty="0"/>
            </a:br>
            <a:endParaRPr lang="en-US" dirty="0"/>
          </a:p>
        </p:txBody>
      </p:sp>
      <p:sp>
        <p:nvSpPr>
          <p:cNvPr id="3" name="Content Placeholder 2">
            <a:extLst>
              <a:ext uri="{FF2B5EF4-FFF2-40B4-BE49-F238E27FC236}">
                <a16:creationId xmlns:a16="http://schemas.microsoft.com/office/drawing/2014/main" xmlns="" id="{FF728905-2069-4701-7756-EB498A05791B}"/>
              </a:ext>
            </a:extLst>
          </p:cNvPr>
          <p:cNvSpPr>
            <a:spLocks noGrp="1"/>
          </p:cNvSpPr>
          <p:nvPr>
            <p:ph idx="1"/>
          </p:nvPr>
        </p:nvSpPr>
        <p:spPr/>
        <p:txBody>
          <a:bodyPr>
            <a:normAutofit lnSpcReduction="10000"/>
          </a:bodyPr>
          <a:lstStyle/>
          <a:p>
            <a:r>
              <a:rPr lang="en-US" dirty="0"/>
              <a:t>As we discussed earlier, the first step is to identify the entities and attributes of the application. We have identified a few for our student-course application. </a:t>
            </a:r>
          </a:p>
          <a:p>
            <a:r>
              <a:rPr lang="en-US" dirty="0"/>
              <a:t>Let’s say we have the following courses: dance, music, and instrument. </a:t>
            </a:r>
          </a:p>
          <a:p>
            <a:r>
              <a:rPr lang="en-US" dirty="0"/>
              <a:t>Each of these courses will have its own attributes, like for instruments, the type – piano, violin, guitar, etc. </a:t>
            </a:r>
          </a:p>
          <a:p>
            <a:r>
              <a:rPr lang="en-US" dirty="0"/>
              <a:t> In the same way, there will be professional tutors in each of these, and these tutors will have their personal information (like name, years into teaching, hobbies, other skills) as well as class details (like number of working days, time slots), and so on.</a:t>
            </a:r>
          </a:p>
        </p:txBody>
      </p:sp>
    </p:spTree>
    <p:extLst>
      <p:ext uri="{BB962C8B-B14F-4D97-AF65-F5344CB8AC3E}">
        <p14:creationId xmlns:p14="http://schemas.microsoft.com/office/powerpoint/2010/main" val="15084098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95DEF7-D2A2-925C-29D0-4B61CBBC8F0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7DEBDC9D-9D92-0760-491C-8DF110A73920}"/>
              </a:ext>
            </a:extLst>
          </p:cNvPr>
          <p:cNvSpPr>
            <a:spLocks noGrp="1"/>
          </p:cNvSpPr>
          <p:nvPr>
            <p:ph idx="1"/>
          </p:nvPr>
        </p:nvSpPr>
        <p:spPr/>
        <p:txBody>
          <a:bodyPr>
            <a:normAutofit lnSpcReduction="10000"/>
          </a:bodyPr>
          <a:lstStyle/>
          <a:p>
            <a:r>
              <a:rPr lang="en-US" dirty="0"/>
              <a:t>We also need to have a review system, where students can review a teacher. In the same way, teachers can provide feedback about students. Review would be another entity with its own set of attributes. </a:t>
            </a:r>
            <a:br>
              <a:rPr lang="en-US" dirty="0"/>
            </a:br>
            <a:r>
              <a:rPr lang="en-US" dirty="0"/>
              <a:t>Once we identify the entities and attributes, we need to quantify them - </a:t>
            </a:r>
          </a:p>
          <a:p>
            <a:r>
              <a:rPr lang="en-US" dirty="0"/>
              <a:t>How many enrolments are we expecting in a year?</a:t>
            </a:r>
          </a:p>
          <a:p>
            <a:r>
              <a:rPr lang="en-US" dirty="0"/>
              <a:t>How many reviews are we expecting in a year?</a:t>
            </a:r>
          </a:p>
          <a:p>
            <a:r>
              <a:rPr lang="en-US" dirty="0"/>
              <a:t>How many website visits and enquiries should we expect per day?</a:t>
            </a:r>
          </a:p>
          <a:p>
            <a:r>
              <a:rPr lang="en-US" dirty="0"/>
              <a:t>How many users click on the tutor feedback per day?</a:t>
            </a:r>
          </a:p>
          <a:p>
            <a:endParaRPr lang="en-US" dirty="0"/>
          </a:p>
        </p:txBody>
      </p:sp>
    </p:spTree>
    <p:extLst>
      <p:ext uri="{BB962C8B-B14F-4D97-AF65-F5344CB8AC3E}">
        <p14:creationId xmlns:p14="http://schemas.microsoft.com/office/powerpoint/2010/main" val="14024211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0A6AE6-A809-88CE-8D05-1B00A2A3FB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EE8CDC89-556A-A1FC-DEA2-4C1A3200E8B6}"/>
              </a:ext>
            </a:extLst>
          </p:cNvPr>
          <p:cNvSpPr>
            <a:spLocks noGrp="1"/>
          </p:cNvSpPr>
          <p:nvPr>
            <p:ph idx="1"/>
          </p:nvPr>
        </p:nvSpPr>
        <p:spPr/>
        <p:txBody>
          <a:bodyPr>
            <a:normAutofit fontScale="92500" lnSpcReduction="10000"/>
          </a:bodyPr>
          <a:lstStyle/>
          <a:p>
            <a:r>
              <a:rPr lang="en-US" dirty="0"/>
              <a:t>Based on these and more similar questions, we can estimate the reads and writes in the application.</a:t>
            </a:r>
          </a:p>
          <a:p>
            <a:r>
              <a:rPr lang="en-US" dirty="0"/>
              <a:t> For that, we need to examine each entity and find the operations to be performed, the information needed, and the type of operation (read or write). </a:t>
            </a:r>
          </a:p>
          <a:p>
            <a:r>
              <a:rPr lang="en-US" dirty="0"/>
              <a:t>For example, we may target about 1000 enrolments for all the classes together in a year.</a:t>
            </a:r>
          </a:p>
          <a:p>
            <a:r>
              <a:rPr lang="en-US" dirty="0"/>
              <a:t> That means about 83 writes per month. In the same way, as the traffic grows, we may have about 1000 users looking at our website and clicking on the tutor feedback, which would mean about 1000 reads on an average day. There might be many such read and write operations, and identifying each of them will help create an efficient schema.</a:t>
            </a:r>
          </a:p>
        </p:txBody>
      </p:sp>
    </p:spTree>
    <p:extLst>
      <p:ext uri="{BB962C8B-B14F-4D97-AF65-F5344CB8AC3E}">
        <p14:creationId xmlns:p14="http://schemas.microsoft.com/office/powerpoint/2010/main" val="20818803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3921EBE-E500-AE3D-B763-4D88E8986E02}"/>
              </a:ext>
            </a:extLst>
          </p:cNvPr>
          <p:cNvSpPr>
            <a:spLocks noGrp="1"/>
          </p:cNvSpPr>
          <p:nvPr>
            <p:ph type="title"/>
          </p:nvPr>
        </p:nvSpPr>
        <p:spPr/>
        <p:txBody>
          <a:bodyPr/>
          <a:lstStyle/>
          <a:p>
            <a:r>
              <a:rPr lang="en-US" b="1" dirty="0"/>
              <a:t>Relationship identification</a:t>
            </a:r>
            <a:br>
              <a:rPr lang="en-US" b="1" dirty="0"/>
            </a:br>
            <a:endParaRPr lang="en-US" dirty="0"/>
          </a:p>
        </p:txBody>
      </p:sp>
      <p:sp>
        <p:nvSpPr>
          <p:cNvPr id="3" name="Content Placeholder 2">
            <a:extLst>
              <a:ext uri="{FF2B5EF4-FFF2-40B4-BE49-F238E27FC236}">
                <a16:creationId xmlns:a16="http://schemas.microsoft.com/office/drawing/2014/main" xmlns="" id="{C83DEDE2-F87C-DD77-92CF-62668079DF9D}"/>
              </a:ext>
            </a:extLst>
          </p:cNvPr>
          <p:cNvSpPr>
            <a:spLocks noGrp="1"/>
          </p:cNvSpPr>
          <p:nvPr>
            <p:ph idx="1"/>
          </p:nvPr>
        </p:nvSpPr>
        <p:spPr/>
        <p:txBody>
          <a:bodyPr/>
          <a:lstStyle/>
          <a:p>
            <a:r>
              <a:rPr lang="en-US" dirty="0"/>
              <a:t>The next step is to identify the relationship between the entities. Based on the above workload identification, we will know the details that each read and write operation requires. This will help us formulate the relationships. </a:t>
            </a:r>
          </a:p>
          <a:p>
            <a:r>
              <a:rPr lang="en-US" dirty="0"/>
              <a:t>For example, for a new enrollment, we need to establish the relationship between the student, course, and tutor entities. </a:t>
            </a:r>
          </a:p>
          <a:p>
            <a:r>
              <a:rPr lang="en-US" dirty="0"/>
              <a:t>In the same way, for the review, we need the relationship between the student, teacher, and review entities. </a:t>
            </a:r>
          </a:p>
        </p:txBody>
      </p:sp>
    </p:spTree>
    <p:extLst>
      <p:ext uri="{BB962C8B-B14F-4D97-AF65-F5344CB8AC3E}">
        <p14:creationId xmlns:p14="http://schemas.microsoft.com/office/powerpoint/2010/main" val="37722571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61E43DD-CAD9-6E1E-2848-ABCC3D1DF109}"/>
              </a:ext>
            </a:extLst>
          </p:cNvPr>
          <p:cNvSpPr>
            <a:spLocks noGrp="1"/>
          </p:cNvSpPr>
          <p:nvPr>
            <p:ph type="title"/>
          </p:nvPr>
        </p:nvSpPr>
        <p:spPr/>
        <p:txBody>
          <a:bodyPr/>
          <a:lstStyle/>
          <a:p>
            <a:r>
              <a:rPr lang="en-US" b="1" dirty="0"/>
              <a:t>One to one (1:1) relationship</a:t>
            </a:r>
            <a:br>
              <a:rPr lang="en-US" b="1" dirty="0"/>
            </a:br>
            <a:endParaRPr lang="en-US" dirty="0"/>
          </a:p>
        </p:txBody>
      </p:sp>
      <p:sp>
        <p:nvSpPr>
          <p:cNvPr id="3" name="Content Placeholder 2">
            <a:extLst>
              <a:ext uri="{FF2B5EF4-FFF2-40B4-BE49-F238E27FC236}">
                <a16:creationId xmlns:a16="http://schemas.microsoft.com/office/drawing/2014/main" xmlns="" id="{87E2E1B4-F17F-C810-1969-02C5B87FCEA6}"/>
              </a:ext>
            </a:extLst>
          </p:cNvPr>
          <p:cNvSpPr>
            <a:spLocks noGrp="1"/>
          </p:cNvSpPr>
          <p:nvPr>
            <p:ph idx="1"/>
          </p:nvPr>
        </p:nvSpPr>
        <p:spPr/>
        <p:txBody>
          <a:bodyPr/>
          <a:lstStyle/>
          <a:p>
            <a:r>
              <a:rPr lang="en-US" dirty="0"/>
              <a:t>A one-to-one represents one entity A related to one entity B and vice versa. </a:t>
            </a:r>
          </a:p>
          <a:p>
            <a:r>
              <a:rPr lang="en-US" dirty="0"/>
              <a:t>For example, in our example, a teacher can take only one class slot at a time. So, the relationship between Tutor and Class Slot is 1:1. This will help plan the availability of teachers during a particular time.</a:t>
            </a:r>
          </a:p>
        </p:txBody>
      </p:sp>
    </p:spTree>
    <p:extLst>
      <p:ext uri="{BB962C8B-B14F-4D97-AF65-F5344CB8AC3E}">
        <p14:creationId xmlns:p14="http://schemas.microsoft.com/office/powerpoint/2010/main" val="302769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386B2D-9CFE-FD0F-B562-0543C4A49B07}"/>
              </a:ext>
            </a:extLst>
          </p:cNvPr>
          <p:cNvSpPr>
            <a:spLocks noGrp="1"/>
          </p:cNvSpPr>
          <p:nvPr>
            <p:ph type="title"/>
          </p:nvPr>
        </p:nvSpPr>
        <p:spPr/>
        <p:txBody>
          <a:bodyPr>
            <a:normAutofit fontScale="90000"/>
          </a:bodyPr>
          <a:lstStyle/>
          <a:p>
            <a:r>
              <a:rPr lang="en-US" b="1" dirty="0"/>
              <a:t>One to many (1:many) relationship</a:t>
            </a:r>
            <a:br>
              <a:rPr lang="en-US" b="1" dirty="0"/>
            </a:br>
            <a:r>
              <a:rPr lang="en-US" dirty="0"/>
              <a:t/>
            </a:r>
            <a:br>
              <a:rPr lang="en-US" dirty="0"/>
            </a:br>
            <a:endParaRPr lang="en-US" dirty="0"/>
          </a:p>
        </p:txBody>
      </p:sp>
      <p:sp>
        <p:nvSpPr>
          <p:cNvPr id="3" name="Content Placeholder 2">
            <a:extLst>
              <a:ext uri="{FF2B5EF4-FFF2-40B4-BE49-F238E27FC236}">
                <a16:creationId xmlns:a16="http://schemas.microsoft.com/office/drawing/2014/main" xmlns="" id="{E6583D45-872B-EF0D-3893-6D60E2892ECE}"/>
              </a:ext>
            </a:extLst>
          </p:cNvPr>
          <p:cNvSpPr>
            <a:spLocks noGrp="1"/>
          </p:cNvSpPr>
          <p:nvPr>
            <p:ph idx="1"/>
          </p:nvPr>
        </p:nvSpPr>
        <p:spPr/>
        <p:txBody>
          <a:bodyPr/>
          <a:lstStyle/>
          <a:p>
            <a:r>
              <a:rPr lang="en-US" dirty="0"/>
              <a:t>If entity A is related to many of entity B and entity B is related to only one of entity A, the relationship is referred to as 1:many. For example, a teacher can have multiple reviews, and one review can be for only one tutor.</a:t>
            </a:r>
          </a:p>
        </p:txBody>
      </p:sp>
    </p:spTree>
    <p:extLst>
      <p:ext uri="{BB962C8B-B14F-4D97-AF65-F5344CB8AC3E}">
        <p14:creationId xmlns:p14="http://schemas.microsoft.com/office/powerpoint/2010/main" val="41778544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AD5D0D-9321-1126-9DEF-A3961884EE39}"/>
              </a:ext>
            </a:extLst>
          </p:cNvPr>
          <p:cNvSpPr>
            <a:spLocks noGrp="1"/>
          </p:cNvSpPr>
          <p:nvPr>
            <p:ph type="title"/>
          </p:nvPr>
        </p:nvSpPr>
        <p:spPr/>
        <p:txBody>
          <a:bodyPr/>
          <a:lstStyle/>
          <a:p>
            <a:r>
              <a:rPr lang="en-US" b="1" dirty="0"/>
              <a:t>Many-to-many (many: many) relationship</a:t>
            </a:r>
            <a:endParaRPr lang="en-US" dirty="0"/>
          </a:p>
        </p:txBody>
      </p:sp>
      <p:sp>
        <p:nvSpPr>
          <p:cNvPr id="3" name="Content Placeholder 2">
            <a:extLst>
              <a:ext uri="{FF2B5EF4-FFF2-40B4-BE49-F238E27FC236}">
                <a16:creationId xmlns:a16="http://schemas.microsoft.com/office/drawing/2014/main" xmlns="" id="{7961B45B-C341-8352-3587-60C0E1B5298E}"/>
              </a:ext>
            </a:extLst>
          </p:cNvPr>
          <p:cNvSpPr>
            <a:spLocks noGrp="1"/>
          </p:cNvSpPr>
          <p:nvPr>
            <p:ph idx="1"/>
          </p:nvPr>
        </p:nvSpPr>
        <p:spPr/>
        <p:txBody>
          <a:bodyPr/>
          <a:lstStyle/>
          <a:p>
            <a:r>
              <a:rPr lang="en-US" dirty="0"/>
              <a:t>In this case, many of entity A are related to many of entity B and vice versa. For example, a student can enroll in many classes, and one class can have multiple students. Similarly, a teacher can teach multiple courses, and one course can have multiple teachers, too.</a:t>
            </a:r>
          </a:p>
        </p:txBody>
      </p:sp>
    </p:spTree>
    <p:extLst>
      <p:ext uri="{BB962C8B-B14F-4D97-AF65-F5344CB8AC3E}">
        <p14:creationId xmlns:p14="http://schemas.microsoft.com/office/powerpoint/2010/main" val="22118487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AA676C-E50E-7B8F-82D1-15E79CB11DBB}"/>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xmlns="" id="{7F928F72-F02A-C21F-92DF-41F9AF610517}"/>
              </a:ext>
            </a:extLst>
          </p:cNvPr>
          <p:cNvPicPr>
            <a:picLocks noGrp="1" noChangeAspect="1"/>
          </p:cNvPicPr>
          <p:nvPr>
            <p:ph idx="1"/>
          </p:nvPr>
        </p:nvPicPr>
        <p:blipFill>
          <a:blip r:embed="rId2"/>
          <a:stretch>
            <a:fillRect/>
          </a:stretch>
        </p:blipFill>
        <p:spPr>
          <a:xfrm>
            <a:off x="838200" y="365126"/>
            <a:ext cx="10515600" cy="6127750"/>
          </a:xfrm>
          <a:prstGeom prst="rect">
            <a:avLst/>
          </a:prstGeom>
        </p:spPr>
      </p:pic>
    </p:spTree>
    <p:extLst>
      <p:ext uri="{BB962C8B-B14F-4D97-AF65-F5344CB8AC3E}">
        <p14:creationId xmlns:p14="http://schemas.microsoft.com/office/powerpoint/2010/main" val="24479906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630B3D-E3AF-9520-F597-DCDEE7EFBFC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9055AC78-1D48-059E-F8E3-7BCD431FBED6}"/>
              </a:ext>
            </a:extLst>
          </p:cNvPr>
          <p:cNvSpPr>
            <a:spLocks noGrp="1"/>
          </p:cNvSpPr>
          <p:nvPr>
            <p:ph idx="1"/>
          </p:nvPr>
        </p:nvSpPr>
        <p:spPr/>
        <p:txBody>
          <a:bodyPr/>
          <a:lstStyle/>
          <a:p>
            <a:r>
              <a:rPr lang="en-US" dirty="0"/>
              <a:t>Based on the nature of these relationships, you can either embed or reference documents. </a:t>
            </a:r>
          </a:p>
          <a:p>
            <a:r>
              <a:rPr lang="en-US" dirty="0"/>
              <a:t>Embedding is done by creating document arrays or subdocuments. In a many-to-many relationship, embedding can create data duplication, and it depends on our project whether we can tolerate some amount of data duplication for a significant performance boost.</a:t>
            </a:r>
          </a:p>
          <a:p>
            <a:r>
              <a:rPr lang="en-US" dirty="0"/>
              <a:t>Referencing is done using an array of references for child elements in the parent document or using the array of references of parent elements in the child document.</a:t>
            </a:r>
          </a:p>
        </p:txBody>
      </p:sp>
    </p:spTree>
    <p:extLst>
      <p:ext uri="{BB962C8B-B14F-4D97-AF65-F5344CB8AC3E}">
        <p14:creationId xmlns:p14="http://schemas.microsoft.com/office/powerpoint/2010/main" val="36826193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9DDDB4-C767-C9E4-D19C-A9C1F468B15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638E166C-9652-480C-6D61-9F2CE15B3A3C}"/>
              </a:ext>
            </a:extLst>
          </p:cNvPr>
          <p:cNvSpPr>
            <a:spLocks noGrp="1"/>
          </p:cNvSpPr>
          <p:nvPr>
            <p:ph idx="1"/>
          </p:nvPr>
        </p:nvSpPr>
        <p:spPr/>
        <p:txBody>
          <a:bodyPr/>
          <a:lstStyle/>
          <a:p>
            <a:r>
              <a:rPr lang="en-US" dirty="0"/>
              <a:t>To decide whether to embed or reference the entities, MongoDB provides a set of guidelines, based on which you can answer simple questions. </a:t>
            </a:r>
          </a:p>
          <a:p>
            <a:r>
              <a:rPr lang="en-US" dirty="0"/>
              <a:t>These guidelines include simplicity, relationship b/w the entities, archival, document size, individuality, update complexity, query atomicity, and so on. </a:t>
            </a:r>
          </a:p>
          <a:p>
            <a:r>
              <a:rPr lang="en-US" dirty="0"/>
              <a:t>For example, let us consider the relationship between the teacher and review entities -</a:t>
            </a:r>
          </a:p>
        </p:txBody>
      </p:sp>
    </p:spTree>
    <p:extLst>
      <p:ext uri="{BB962C8B-B14F-4D97-AF65-F5344CB8AC3E}">
        <p14:creationId xmlns:p14="http://schemas.microsoft.com/office/powerpoint/2010/main" val="24441788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E2E986-EBE1-9613-00B2-0947F2CCFD1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91E748AE-D28C-57F0-553C-1134141EA38C}"/>
              </a:ext>
            </a:extLst>
          </p:cNvPr>
          <p:cNvSpPr>
            <a:spLocks noGrp="1"/>
          </p:cNvSpPr>
          <p:nvPr>
            <p:ph idx="1"/>
          </p:nvPr>
        </p:nvSpPr>
        <p:spPr/>
        <p:txBody>
          <a:bodyPr/>
          <a:lstStyle/>
          <a:p>
            <a:r>
              <a:rPr lang="en-US" dirty="0"/>
              <a:t>Simplicity - Would your code be simple if the teacher and review entities were kept embedded? – Yes.</a:t>
            </a:r>
          </a:p>
          <a:p>
            <a:r>
              <a:rPr lang="en-US" dirty="0"/>
              <a:t>Document size – would it become too huge and unmanageable if the entities are kept together – no? – however, if we are expecting reviews in 1000s, then we may consider a yes.</a:t>
            </a:r>
          </a:p>
          <a:p>
            <a:r>
              <a:rPr lang="en-US" dirty="0"/>
              <a:t>Is the relationship between the teacher and review entities 'has a' or 'contains' – yes</a:t>
            </a:r>
          </a:p>
          <a:p>
            <a:r>
              <a:rPr lang="en-US" dirty="0"/>
              <a:t>Does the app query the information together - yes - a user would most likely like to see the reviews along with the teacher details </a:t>
            </a:r>
          </a:p>
        </p:txBody>
      </p:sp>
    </p:spTree>
    <p:extLst>
      <p:ext uri="{BB962C8B-B14F-4D97-AF65-F5344CB8AC3E}">
        <p14:creationId xmlns:p14="http://schemas.microsoft.com/office/powerpoint/2010/main" val="42514331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021427-7AD2-995E-55C6-F6881778464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B5B5DD25-720F-E376-1473-EBA85D208284}"/>
              </a:ext>
            </a:extLst>
          </p:cNvPr>
          <p:cNvSpPr>
            <a:spLocks noGrp="1"/>
          </p:cNvSpPr>
          <p:nvPr>
            <p:ph idx="1"/>
          </p:nvPr>
        </p:nvSpPr>
        <p:spPr/>
        <p:txBody>
          <a:bodyPr/>
          <a:lstStyle/>
          <a:p>
            <a:r>
              <a:rPr lang="en-US" dirty="0"/>
              <a:t>In this way, we can refer to each guideline and decide whether to embed or reference. In general, you would embed the entity at the same document level or create a sub-document.</a:t>
            </a:r>
          </a:p>
          <a:p>
            <a:r>
              <a:rPr lang="en-US" dirty="0"/>
              <a:t>In referencing, you would have separate entities that can be referred using a common unique key:</a:t>
            </a:r>
          </a:p>
        </p:txBody>
      </p:sp>
    </p:spTree>
    <p:extLst>
      <p:ext uri="{BB962C8B-B14F-4D97-AF65-F5344CB8AC3E}">
        <p14:creationId xmlns:p14="http://schemas.microsoft.com/office/powerpoint/2010/main" val="39830568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AA717C6-AD02-C5AD-8CCC-0723087F5F08}"/>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xmlns="" id="{33C8F067-B75C-7E8B-1779-8DA75BE21A08}"/>
              </a:ext>
            </a:extLst>
          </p:cNvPr>
          <p:cNvPicPr>
            <a:picLocks noGrp="1" noChangeAspect="1"/>
          </p:cNvPicPr>
          <p:nvPr>
            <p:ph idx="1"/>
          </p:nvPr>
        </p:nvPicPr>
        <p:blipFill>
          <a:blip r:embed="rId2"/>
          <a:stretch>
            <a:fillRect/>
          </a:stretch>
        </p:blipFill>
        <p:spPr>
          <a:xfrm>
            <a:off x="838200" y="1917290"/>
            <a:ext cx="10149347" cy="4575585"/>
          </a:xfrm>
          <a:prstGeom prst="rect">
            <a:avLst/>
          </a:prstGeom>
        </p:spPr>
      </p:pic>
    </p:spTree>
    <p:extLst>
      <p:ext uri="{BB962C8B-B14F-4D97-AF65-F5344CB8AC3E}">
        <p14:creationId xmlns:p14="http://schemas.microsoft.com/office/powerpoint/2010/main" val="21666865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47756F-CA27-A5E3-76F6-5DDB709B7D9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CD7BE686-8E4B-D734-32F3-33DFB465D9D4}"/>
              </a:ext>
            </a:extLst>
          </p:cNvPr>
          <p:cNvSpPr>
            <a:spLocks noGrp="1"/>
          </p:cNvSpPr>
          <p:nvPr>
            <p:ph idx="1"/>
          </p:nvPr>
        </p:nvSpPr>
        <p:spPr/>
        <p:txBody>
          <a:bodyPr/>
          <a:lstStyle/>
          <a:p>
            <a:r>
              <a:rPr lang="en-US" dirty="0"/>
              <a:t>The above is a unidirectional referencing. If we also add </a:t>
            </a:r>
            <a:r>
              <a:rPr lang="en-US" dirty="0" err="1"/>
              <a:t>teacher_id</a:t>
            </a:r>
            <a:r>
              <a:rPr lang="en-US" dirty="0"/>
              <a:t> in the course entity, we will get a bidirectional referencing:</a:t>
            </a:r>
            <a:br>
              <a:rPr lang="en-US" dirty="0"/>
            </a:br>
            <a:r>
              <a:rPr lang="en-US" dirty="0"/>
              <a:t> </a:t>
            </a:r>
          </a:p>
        </p:txBody>
      </p:sp>
    </p:spTree>
    <p:extLst>
      <p:ext uri="{BB962C8B-B14F-4D97-AF65-F5344CB8AC3E}">
        <p14:creationId xmlns:p14="http://schemas.microsoft.com/office/powerpoint/2010/main" val="5724366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EDDC2F-C4B8-BBE2-A7A6-13ADC087171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xmlns="" id="{06E616F0-A65F-5D91-C30D-DFC2793910F0}"/>
              </a:ext>
            </a:extLst>
          </p:cNvPr>
          <p:cNvPicPr>
            <a:picLocks noGrp="1" noChangeAspect="1"/>
          </p:cNvPicPr>
          <p:nvPr>
            <p:ph idx="1"/>
          </p:nvPr>
        </p:nvPicPr>
        <p:blipFill>
          <a:blip r:embed="rId2"/>
          <a:stretch>
            <a:fillRect/>
          </a:stretch>
        </p:blipFill>
        <p:spPr>
          <a:xfrm>
            <a:off x="838199" y="2109019"/>
            <a:ext cx="10515599" cy="3628104"/>
          </a:xfrm>
          <a:prstGeom prst="rect">
            <a:avLst/>
          </a:prstGeom>
        </p:spPr>
      </p:pic>
    </p:spTree>
    <p:extLst>
      <p:ext uri="{BB962C8B-B14F-4D97-AF65-F5344CB8AC3E}">
        <p14:creationId xmlns:p14="http://schemas.microsoft.com/office/powerpoint/2010/main" val="10631614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1B65FC-9F82-EB07-4493-B65B3B413AD2}"/>
              </a:ext>
            </a:extLst>
          </p:cNvPr>
          <p:cNvSpPr>
            <a:spLocks noGrp="1"/>
          </p:cNvSpPr>
          <p:nvPr>
            <p:ph type="title"/>
          </p:nvPr>
        </p:nvSpPr>
        <p:spPr/>
        <p:txBody>
          <a:bodyPr/>
          <a:lstStyle/>
          <a:p>
            <a:r>
              <a:rPr lang="en-US" dirty="0"/>
              <a:t>Applying Patterns</a:t>
            </a:r>
          </a:p>
        </p:txBody>
      </p:sp>
      <p:sp>
        <p:nvSpPr>
          <p:cNvPr id="3" name="Content Placeholder 2">
            <a:extLst>
              <a:ext uri="{FF2B5EF4-FFF2-40B4-BE49-F238E27FC236}">
                <a16:creationId xmlns:a16="http://schemas.microsoft.com/office/drawing/2014/main" xmlns="" id="{E42CB244-6BB8-54A8-8935-F42F89A4AF68}"/>
              </a:ext>
            </a:extLst>
          </p:cNvPr>
          <p:cNvSpPr>
            <a:spLocks noGrp="1"/>
          </p:cNvSpPr>
          <p:nvPr>
            <p:ph idx="1"/>
          </p:nvPr>
        </p:nvSpPr>
        <p:spPr/>
        <p:txBody>
          <a:bodyPr>
            <a:normAutofit lnSpcReduction="10000"/>
          </a:bodyPr>
          <a:lstStyle/>
          <a:p>
            <a:r>
              <a:rPr lang="en-US" dirty="0"/>
              <a:t>The last step is to collate all the information we gathered in the previous steps and apply the relevant schema patterns. </a:t>
            </a:r>
          </a:p>
          <a:p>
            <a:r>
              <a:rPr lang="en-US" dirty="0"/>
              <a:t>MongoDB provides many patterns, a few of which are highlighted below. </a:t>
            </a:r>
            <a:br>
              <a:rPr lang="en-US" dirty="0"/>
            </a:br>
            <a:r>
              <a:rPr lang="en-US" dirty="0"/>
              <a:t>1. Inheritance pattern - Polymorphism is a key feature of the document model of MongoDB.</a:t>
            </a:r>
            <a:br>
              <a:rPr lang="en-US" dirty="0"/>
            </a:br>
            <a:r>
              <a:rPr lang="en-US" dirty="0"/>
              <a:t>The inheritance pattern is based on this principle, where you can group similar documents in one collection. This, as we learnt earlier, is one of the golden rules of MongoDB: “Data that is accessed together should be stored together.” </a:t>
            </a:r>
            <a:br>
              <a:rPr lang="en-US" dirty="0"/>
            </a:br>
            <a:r>
              <a:rPr lang="en-US" dirty="0"/>
              <a:t>You can use the MongoDB aggregation framework to apply an inheritance pattern to existing collections.</a:t>
            </a:r>
          </a:p>
        </p:txBody>
      </p:sp>
    </p:spTree>
    <p:extLst>
      <p:ext uri="{BB962C8B-B14F-4D97-AF65-F5344CB8AC3E}">
        <p14:creationId xmlns:p14="http://schemas.microsoft.com/office/powerpoint/2010/main" val="22369447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7C7BEF-21F5-4ECB-FAB1-1488D17EBA2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31AA2D3A-D694-6EFE-6B8A-711D49C1155F}"/>
              </a:ext>
            </a:extLst>
          </p:cNvPr>
          <p:cNvSpPr>
            <a:spLocks noGrp="1"/>
          </p:cNvSpPr>
          <p:nvPr>
            <p:ph idx="1"/>
          </p:nvPr>
        </p:nvSpPr>
        <p:spPr/>
        <p:txBody>
          <a:bodyPr/>
          <a:lstStyle/>
          <a:p>
            <a:r>
              <a:rPr lang="en-US" dirty="0"/>
              <a:t>2. Computed pattern - This pattern precomputes certain fields before the read operation. For example, calculating the avg review of a particular tutor, calculating monthly sales. We can do this using the aggregation framework. Whenever data changes, these operations can be performed, and the result is stored in a document for quick reference.</a:t>
            </a:r>
          </a:p>
        </p:txBody>
      </p:sp>
    </p:spTree>
    <p:extLst>
      <p:ext uri="{BB962C8B-B14F-4D97-AF65-F5344CB8AC3E}">
        <p14:creationId xmlns:p14="http://schemas.microsoft.com/office/powerpoint/2010/main" val="7451078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AA97BD-2D5E-1DAE-6B2F-D9D83AB4D50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9EC4337D-77FF-2498-555B-915359DD3822}"/>
              </a:ext>
            </a:extLst>
          </p:cNvPr>
          <p:cNvSpPr>
            <a:spLocks noGrp="1"/>
          </p:cNvSpPr>
          <p:nvPr>
            <p:ph idx="1"/>
          </p:nvPr>
        </p:nvSpPr>
        <p:spPr/>
        <p:txBody>
          <a:bodyPr>
            <a:normAutofit lnSpcReduction="10000"/>
          </a:bodyPr>
          <a:lstStyle/>
          <a:p>
            <a:r>
              <a:rPr lang="en-US" dirty="0"/>
              <a:t>Approximation pattern - This pattern is used when data is expensive or difficult to calculate, and getting the exact result is not critical. The pattern is very useful for big data calculations and helps reduce resource usage by reducing the number of writes and updates when not needed.</a:t>
            </a:r>
          </a:p>
          <a:p>
            <a:r>
              <a:rPr lang="en-US" dirty="0"/>
              <a:t>Schema versioning pattern - This pattern allows you to update the schema of a database without any application downtime. This feature is a big distinguisher between relational databases and MongoDB, as relational databases allow only one schema per database or table, whereas in MongoDB you can have multiple schemas for the same database.</a:t>
            </a:r>
          </a:p>
        </p:txBody>
      </p:sp>
    </p:spTree>
    <p:extLst>
      <p:ext uri="{BB962C8B-B14F-4D97-AF65-F5344CB8AC3E}">
        <p14:creationId xmlns:p14="http://schemas.microsoft.com/office/powerpoint/2010/main" val="30222079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1941</TotalTime>
  <Words>1710</Words>
  <Application>Microsoft Office PowerPoint</Application>
  <PresentationFormat>Custom</PresentationFormat>
  <Paragraphs>96</Paragraphs>
  <Slides>35</Slides>
  <Notes>0</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Data Modeling In MongoDB</vt:lpstr>
      <vt:lpstr>PowerPoint Presentation</vt:lpstr>
      <vt:lpstr>PowerPoint Presentation</vt:lpstr>
      <vt:lpstr>PowerPoint Presentation</vt:lpstr>
      <vt:lpstr>PowerPoint Presentation</vt:lpstr>
      <vt:lpstr>Denormalization</vt:lpstr>
      <vt:lpstr>Data Modeling Important Terms</vt:lpstr>
      <vt:lpstr>Denormalization </vt:lpstr>
      <vt:lpstr>Entity</vt:lpstr>
      <vt:lpstr>Attribute</vt:lpstr>
      <vt:lpstr>Relationship </vt:lpstr>
      <vt:lpstr>Indexing</vt:lpstr>
      <vt:lpstr>Traditional schema vs MongoDB schema </vt:lpstr>
      <vt:lpstr>PowerPoint Presentation</vt:lpstr>
      <vt:lpstr>PowerPoint Presentation</vt:lpstr>
      <vt:lpstr>Data modeling in MongoDB </vt:lpstr>
      <vt:lpstr>PowerPoint Presentation</vt:lpstr>
      <vt:lpstr>Workload identification </vt:lpstr>
      <vt:lpstr>PowerPoint Presentation</vt:lpstr>
      <vt:lpstr>PowerPoint Presentation</vt:lpstr>
      <vt:lpstr>Relationship identification </vt:lpstr>
      <vt:lpstr>One to one (1:1) relationship </vt:lpstr>
      <vt:lpstr>One to many (1:many) relationship  </vt:lpstr>
      <vt:lpstr>Many-to-many (many: many) relationship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Applying Patterns</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Modeling In MongoDB</dc:title>
  <dc:creator>Muhammad Inaam ul haq</dc:creator>
  <cp:lastModifiedBy>Smart ComputerS</cp:lastModifiedBy>
  <cp:revision>41</cp:revision>
  <dcterms:created xsi:type="dcterms:W3CDTF">2026-02-22T14:00:19Z</dcterms:created>
  <dcterms:modified xsi:type="dcterms:W3CDTF">2026-02-25T07:59:44Z</dcterms:modified>
</cp:coreProperties>
</file>